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79" r:id="rId1"/>
  </p:sldMasterIdLst>
  <p:notesMasterIdLst>
    <p:notesMasterId r:id="rId7"/>
  </p:notesMasterIdLst>
  <p:sldIdLst>
    <p:sldId id="256" r:id="rId2"/>
    <p:sldId id="257" r:id="rId3"/>
    <p:sldId id="258" r:id="rId4"/>
    <p:sldId id="259" r:id="rId5"/>
    <p:sldId id="260" r:id="rId6"/>
  </p:sldIdLst>
  <p:sldSz cx="12188825" cy="6858000"/>
  <p:notesSz cx="6858000" cy="9144000"/>
  <p:defaultTextStyle>
    <a:defPPr>
      <a:defRPr lang="en-US"/>
    </a:defPPr>
    <a:lvl1pPr marL="0" algn="l" defTabSz="1056223" rtl="0" eaLnBrk="1" latinLnBrk="0" hangingPunct="1">
      <a:defRPr sz="2079" kern="1200">
        <a:solidFill>
          <a:schemeClr val="tx1"/>
        </a:solidFill>
        <a:latin typeface="+mn-lt"/>
        <a:ea typeface="+mn-ea"/>
        <a:cs typeface="+mn-cs"/>
      </a:defRPr>
    </a:lvl1pPr>
    <a:lvl2pPr marL="528112" algn="l" defTabSz="1056223" rtl="0" eaLnBrk="1" latinLnBrk="0" hangingPunct="1">
      <a:defRPr sz="2079" kern="1200">
        <a:solidFill>
          <a:schemeClr val="tx1"/>
        </a:solidFill>
        <a:latin typeface="+mn-lt"/>
        <a:ea typeface="+mn-ea"/>
        <a:cs typeface="+mn-cs"/>
      </a:defRPr>
    </a:lvl2pPr>
    <a:lvl3pPr marL="1056223" algn="l" defTabSz="1056223" rtl="0" eaLnBrk="1" latinLnBrk="0" hangingPunct="1">
      <a:defRPr sz="2079" kern="1200">
        <a:solidFill>
          <a:schemeClr val="tx1"/>
        </a:solidFill>
        <a:latin typeface="+mn-lt"/>
        <a:ea typeface="+mn-ea"/>
        <a:cs typeface="+mn-cs"/>
      </a:defRPr>
    </a:lvl3pPr>
    <a:lvl4pPr marL="1584335" algn="l" defTabSz="1056223" rtl="0" eaLnBrk="1" latinLnBrk="0" hangingPunct="1">
      <a:defRPr sz="2079" kern="1200">
        <a:solidFill>
          <a:schemeClr val="tx1"/>
        </a:solidFill>
        <a:latin typeface="+mn-lt"/>
        <a:ea typeface="+mn-ea"/>
        <a:cs typeface="+mn-cs"/>
      </a:defRPr>
    </a:lvl4pPr>
    <a:lvl5pPr marL="2112447" algn="l" defTabSz="1056223" rtl="0" eaLnBrk="1" latinLnBrk="0" hangingPunct="1">
      <a:defRPr sz="2079" kern="1200">
        <a:solidFill>
          <a:schemeClr val="tx1"/>
        </a:solidFill>
        <a:latin typeface="+mn-lt"/>
        <a:ea typeface="+mn-ea"/>
        <a:cs typeface="+mn-cs"/>
      </a:defRPr>
    </a:lvl5pPr>
    <a:lvl6pPr marL="2640559" algn="l" defTabSz="1056223" rtl="0" eaLnBrk="1" latinLnBrk="0" hangingPunct="1">
      <a:defRPr sz="2079" kern="1200">
        <a:solidFill>
          <a:schemeClr val="tx1"/>
        </a:solidFill>
        <a:latin typeface="+mn-lt"/>
        <a:ea typeface="+mn-ea"/>
        <a:cs typeface="+mn-cs"/>
      </a:defRPr>
    </a:lvl6pPr>
    <a:lvl7pPr marL="3168670" algn="l" defTabSz="1056223" rtl="0" eaLnBrk="1" latinLnBrk="0" hangingPunct="1">
      <a:defRPr sz="2079" kern="1200">
        <a:solidFill>
          <a:schemeClr val="tx1"/>
        </a:solidFill>
        <a:latin typeface="+mn-lt"/>
        <a:ea typeface="+mn-ea"/>
        <a:cs typeface="+mn-cs"/>
      </a:defRPr>
    </a:lvl7pPr>
    <a:lvl8pPr marL="3696782" algn="l" defTabSz="1056223" rtl="0" eaLnBrk="1" latinLnBrk="0" hangingPunct="1">
      <a:defRPr sz="2079" kern="1200">
        <a:solidFill>
          <a:schemeClr val="tx1"/>
        </a:solidFill>
        <a:latin typeface="+mn-lt"/>
        <a:ea typeface="+mn-ea"/>
        <a:cs typeface="+mn-cs"/>
      </a:defRPr>
    </a:lvl8pPr>
    <a:lvl9pPr marL="4224894" algn="l" defTabSz="1056223" rtl="0" eaLnBrk="1" latinLnBrk="0" hangingPunct="1">
      <a:defRPr sz="2079"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19EFC82B-ADA7-D44E-8CB1-3BE8325A7DB4}">
          <p14:sldIdLst>
            <p14:sldId id="256"/>
            <p14:sldId id="257"/>
            <p14:sldId id="258"/>
            <p14:sldId id="259"/>
            <p14:sldId id="260"/>
          </p14:sldIdLst>
        </p14:section>
        <p14:section name="Fact Sheet" id="{E769E60D-A1FE-C048-AFFF-4DF120818C6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5F3"/>
    <a:srgbClr val="F1EFED"/>
    <a:srgbClr val="F9F7F6"/>
    <a:srgbClr val="ECECEC"/>
    <a:srgbClr val="F5F3F2"/>
    <a:srgbClr val="F6F3F2"/>
    <a:srgbClr val="81766F"/>
    <a:srgbClr val="564C47"/>
    <a:srgbClr val="83786F"/>
    <a:srgbClr val="9834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7" d="100"/>
          <a:sy n="57" d="100"/>
        </p:scale>
        <p:origin x="48"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itchFamily="2" charset="77"/>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itchFamily="2" charset="77"/>
              </a:defRPr>
            </a:lvl1pPr>
          </a:lstStyle>
          <a:p>
            <a:fld id="{BA4529F8-1B9C-C04B-A698-DC6C48C547B6}" type="datetimeFigureOut">
              <a:rPr lang="en-US" smtClean="0"/>
              <a:pPr/>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itchFamily="2" charset="77"/>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itchFamily="2" charset="77"/>
              </a:defRPr>
            </a:lvl1pPr>
          </a:lstStyle>
          <a:p>
            <a:fld id="{08B18E93-EE38-CB4F-AFC1-65CB91DBAD44}" type="slidenum">
              <a:rPr lang="en-US" smtClean="0"/>
              <a:pPr/>
              <a:t>‹#›</a:t>
            </a:fld>
            <a:endParaRPr lang="en-US"/>
          </a:p>
        </p:txBody>
      </p:sp>
    </p:spTree>
    <p:extLst>
      <p:ext uri="{BB962C8B-B14F-4D97-AF65-F5344CB8AC3E}">
        <p14:creationId xmlns:p14="http://schemas.microsoft.com/office/powerpoint/2010/main" val="1041574117"/>
      </p:ext>
    </p:extLst>
  </p:cSld>
  <p:clrMap bg1="lt1" tx1="dk1" bg2="lt2" tx2="dk2" accent1="accent1" accent2="accent2" accent3="accent3" accent4="accent4" accent5="accent5" accent6="accent6" hlink="hlink" folHlink="folHlink"/>
  <p:notesStyle>
    <a:lvl1pPr marL="0" algn="l" defTabSz="1056223" rtl="0" eaLnBrk="1" latinLnBrk="0" hangingPunct="1">
      <a:defRPr sz="1386" b="0" i="0" kern="1200">
        <a:solidFill>
          <a:schemeClr val="tx1"/>
        </a:solidFill>
        <a:latin typeface="Arial" pitchFamily="2" charset="77"/>
        <a:ea typeface="Arial"/>
        <a:cs typeface="Arial"/>
      </a:defRPr>
    </a:lvl1pPr>
    <a:lvl2pPr marL="528112" algn="l" defTabSz="1056223" rtl="0" eaLnBrk="1" latinLnBrk="0" hangingPunct="1">
      <a:defRPr sz="1386" b="0" i="0" kern="1200">
        <a:solidFill>
          <a:schemeClr val="tx1"/>
        </a:solidFill>
        <a:latin typeface="Arial" pitchFamily="2" charset="77"/>
        <a:ea typeface="Arial"/>
        <a:cs typeface="Arial"/>
      </a:defRPr>
    </a:lvl2pPr>
    <a:lvl3pPr marL="1056223" algn="l" defTabSz="1056223" rtl="0" eaLnBrk="1" latinLnBrk="0" hangingPunct="1">
      <a:defRPr sz="1386" b="0" i="0" kern="1200">
        <a:solidFill>
          <a:schemeClr val="tx1"/>
        </a:solidFill>
        <a:latin typeface="Arial" pitchFamily="2" charset="77"/>
        <a:ea typeface="Arial"/>
        <a:cs typeface="Arial"/>
      </a:defRPr>
    </a:lvl3pPr>
    <a:lvl4pPr marL="1584335" algn="l" defTabSz="1056223" rtl="0" eaLnBrk="1" latinLnBrk="0" hangingPunct="1">
      <a:defRPr sz="1386" b="0" i="0" kern="1200">
        <a:solidFill>
          <a:schemeClr val="tx1"/>
        </a:solidFill>
        <a:latin typeface="Arial" pitchFamily="2" charset="77"/>
        <a:ea typeface="Arial"/>
        <a:cs typeface="Arial"/>
      </a:defRPr>
    </a:lvl4pPr>
    <a:lvl5pPr marL="2112447" algn="l" defTabSz="1056223" rtl="0" eaLnBrk="1" latinLnBrk="0" hangingPunct="1">
      <a:defRPr sz="1386" b="0" i="0" kern="1200">
        <a:solidFill>
          <a:schemeClr val="tx1"/>
        </a:solidFill>
        <a:latin typeface="Arial" pitchFamily="2" charset="77"/>
        <a:ea typeface="Arial"/>
        <a:cs typeface="Arial"/>
      </a:defRPr>
    </a:lvl5pPr>
    <a:lvl6pPr marL="2640559" algn="l" defTabSz="1056223" rtl="0" eaLnBrk="1" latinLnBrk="0" hangingPunct="1">
      <a:defRPr sz="1386" kern="1200">
        <a:solidFill>
          <a:schemeClr val="tx1"/>
        </a:solidFill>
        <a:latin typeface="Arial"/>
        <a:ea typeface="Arial"/>
        <a:cs typeface="Arial"/>
      </a:defRPr>
    </a:lvl6pPr>
    <a:lvl7pPr marL="3168670" algn="l" defTabSz="1056223" rtl="0" eaLnBrk="1" latinLnBrk="0" hangingPunct="1">
      <a:defRPr sz="1386" kern="1200">
        <a:solidFill>
          <a:schemeClr val="tx1"/>
        </a:solidFill>
        <a:latin typeface="Arial"/>
        <a:ea typeface="Arial"/>
        <a:cs typeface="Arial"/>
      </a:defRPr>
    </a:lvl7pPr>
    <a:lvl8pPr marL="3696782" algn="l" defTabSz="1056223" rtl="0" eaLnBrk="1" latinLnBrk="0" hangingPunct="1">
      <a:defRPr sz="1386" kern="1200">
        <a:solidFill>
          <a:schemeClr val="tx1"/>
        </a:solidFill>
        <a:latin typeface="Arial"/>
        <a:ea typeface="Arial"/>
        <a:cs typeface="Arial"/>
      </a:defRPr>
    </a:lvl8pPr>
    <a:lvl9pPr marL="4224894" algn="l" defTabSz="1056223" rtl="0" eaLnBrk="1" latinLnBrk="0" hangingPunct="1">
      <a:defRPr sz="1386" kern="1200">
        <a:solidFill>
          <a:schemeClr val="tx1"/>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US" dirty="0"/>
              <a:t>Welcome. This deck reports on supply chain issues identified in the Analysis tab of the Supply Chain Report, together with the accompanying Supply Chain Issue Analysis Report. The scope is 50 component-supplier records, and the focus is delivery risk, delayed components, supplier performance, and the compliance exposure these create. I will cover key issues, the data behind them, proposed solutions, and a phased implementation plan.</a:t>
            </a:r>
          </a:p>
        </p:txBody>
      </p:sp>
      <p:sp>
        <p:nvSpPr>
          <p:cNvPr id="3" name="Slide Number Placeholder"/>
          <p:cNvSpPr>
            <a:spLocks noGrp="1"/>
          </p:cNvSpPr>
          <p:nvPr>
            <p:ph type="sldNum" sz="quarter" idx="10"/>
          </p:nvPr>
        </p:nvSpPr>
        <p:spPr/>
        <p:txBody>
          <a:bodyPr/>
          <a:lstStyle/>
          <a:p>
            <a:fld id="{B7D8A1A0-1111-4B4E-9A11-000000000001}"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US" dirty="0"/>
              <a:t>Three findings drive everything that follows. First, medium-risk records are the largest share of the dataset at 48 percent, and they carry the longest average delivery timeline at 15.1 days — so risk is concentrating where we are not watching most closely. Second, among delayed components COAT890 has the weakest on-time delivery at 84.2 percent, making it our priority intervention. Third, supplier performance is mixed: NextGen Pharma leads on-time delivery at 91.5 percent with the lowest defect rate at 2.22 percent, while others show higher variability, defect exposure, or backorder pressure. The compliance angle matters: delays and quality variability create exposure when they affect production continuity, availability, or documented commitments, so we need evidence of reviews and corrective actions.</a:t>
            </a:r>
          </a:p>
        </p:txBody>
      </p:sp>
      <p:sp>
        <p:nvSpPr>
          <p:cNvPr id="3" name="Slide Number Placeholder"/>
          <p:cNvSpPr>
            <a:spLocks noGrp="1"/>
          </p:cNvSpPr>
          <p:nvPr>
            <p:ph type="sldNum" sz="quarter" idx="10"/>
          </p:nvPr>
        </p:nvSpPr>
        <p:spPr/>
        <p:txBody>
          <a:bodyPr/>
          <a:lstStyle/>
          <a:p>
            <a:fld id="{B7D8A1A0-1111-4B4E-9A11-000000000002}"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US" dirty="0"/>
              <a:t>These figures come straight from the Analysis tab. On delivery timelines by risk level: medium averages 15.1 days across 24 records, low averages 12.9 days across 14 records, and high averages 11.3 days across 12 records — counter-intuitively, the medium band is slowest. On delayed components: COAT890 has five delayed records at 84.2 percent average on-time delivery, CARB123 has four at 90.3 percent, and BIND567 has one but holds 99 percent. Supplier-level: NextGen Pharma is strongest on on-time delivery and defects with the shortest average timeline at 10.7 days; GlobalChem delivers 90.9 percent on time but takes 16.4 days on average; EcoSupply sits at 87.9 percent. Root causes point to component-specific weakness at COAT890, supplier variability, and forecast and inventory imbalance.</a:t>
            </a:r>
          </a:p>
        </p:txBody>
      </p:sp>
      <p:sp>
        <p:nvSpPr>
          <p:cNvPr id="3" name="Slide Number Placeholder"/>
          <p:cNvSpPr>
            <a:spLocks noGrp="1"/>
          </p:cNvSpPr>
          <p:nvPr>
            <p:ph type="sldNum" sz="quarter" idx="10"/>
          </p:nvPr>
        </p:nvSpPr>
        <p:spPr/>
        <p:txBody>
          <a:bodyPr/>
          <a:lstStyle/>
          <a:p>
            <a:fld id="{B7D8A1A0-1111-4B4E-9A11-000000000003}"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US" dirty="0"/>
              <a:t>Five mitigation strategies respond directly to those root causes. Prioritise COAT890 recovery planning with a component-level review and a plan that names owners and timelines. Recalibrate risk classification so medium-risk items with long timelines are either re-scored or given additional monitoring triggers. Strengthen supplier governance with periodic scorecards covering delivery, reliability, defect rate, inspection pass rate, forecast accuracy, and backorder volume. Optimise inventory and safety stock for components with high usage, long timelines, or recurring delays. And reduce expedite dependency — use it selectively for confirmed critical shortages while fixing the structural issues through contract reviews and alternative sourcing. Together these produce the documentation trail compliance requires.</a:t>
            </a:r>
          </a:p>
        </p:txBody>
      </p:sp>
      <p:sp>
        <p:nvSpPr>
          <p:cNvPr id="3" name="Slide Number Placeholder"/>
          <p:cNvSpPr>
            <a:spLocks noGrp="1"/>
          </p:cNvSpPr>
          <p:nvPr>
            <p:ph type="sldNum" sz="quarter" idx="10"/>
          </p:nvPr>
        </p:nvSpPr>
        <p:spPr/>
        <p:txBody>
          <a:bodyPr/>
          <a:lstStyle/>
          <a:p>
            <a:fld id="{B7D8A1A0-1111-4B4E-9A11-000000000004}"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US" dirty="0"/>
              <a:t>The plan is phased over roughly four months. Phase 1, in the first 30 days, is COAT890 recovery, owned by Supply Chain Operations. Phase 2, days 30 to 60, re-scores medium-risk components, owned by Risk and Compliance. Phase 3, days 60 to 90, launches supplier scorecards under Procurement. Phase 4, days 90 to 120, adjusts reorder points and safety stock with Demand Planning. Phase 5 is ongoing expedite discipline. Each phase has a gate review, and the evidence from those reviews is retained as compliance documentation. I would ask for agreement on the owners and the Phase 1 start date today.</a:t>
            </a:r>
          </a:p>
        </p:txBody>
      </p:sp>
      <p:sp>
        <p:nvSpPr>
          <p:cNvPr id="3" name="Slide Number Placeholder"/>
          <p:cNvSpPr>
            <a:spLocks noGrp="1"/>
          </p:cNvSpPr>
          <p:nvPr>
            <p:ph type="sldNum" sz="quarter" idx="10"/>
          </p:nvPr>
        </p:nvSpPr>
        <p:spPr/>
        <p:txBody>
          <a:bodyPr/>
          <a:lstStyle/>
          <a:p>
            <a:fld id="{B7D8A1A0-1111-4B4E-9A11-000000000005}" type="slidenum">
              <a:rPr lang="en-US"/>
              <a:t>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Horizontal_Fact_Sheet">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3DA55625-E7C0-D9C4-793A-D8D035639929}"/>
              </a:ext>
            </a:extLst>
          </p:cNvPr>
          <p:cNvSpPr>
            <a:spLocks noGrp="1"/>
          </p:cNvSpPr>
          <p:nvPr>
            <p:ph type="pic" sz="quarter" idx="12" hasCustomPrompt="1"/>
          </p:nvPr>
        </p:nvSpPr>
        <p:spPr>
          <a:xfrm>
            <a:off x="265112" y="1741488"/>
            <a:ext cx="5755561" cy="4167187"/>
          </a:xfrm>
          <a:prstGeom prst="rect">
            <a:avLst/>
          </a:prstGeom>
          <a:solidFill>
            <a:schemeClr val="accent4"/>
          </a:solidFill>
        </p:spPr>
        <p:txBody>
          <a:bodyPr/>
          <a:lstStyle>
            <a:lvl1pPr>
              <a:defRPr sz="1200">
                <a:solidFill>
                  <a:schemeClr val="bg1"/>
                </a:solidFill>
              </a:defRPr>
            </a:lvl1pPr>
          </a:lstStyle>
          <a:p>
            <a:r>
              <a:rPr lang="en-US"/>
              <a:t>Click on the icon to insert a picture or illustration</a:t>
            </a:r>
          </a:p>
        </p:txBody>
      </p:sp>
      <p:sp>
        <p:nvSpPr>
          <p:cNvPr id="11" name="Title 8">
            <a:extLst>
              <a:ext uri="{FF2B5EF4-FFF2-40B4-BE49-F238E27FC236}">
                <a16:creationId xmlns:a16="http://schemas.microsoft.com/office/drawing/2014/main" id="{64013C56-6EAF-FA75-3FE3-1305BC4E97B0}"/>
              </a:ext>
            </a:extLst>
          </p:cNvPr>
          <p:cNvSpPr>
            <a:spLocks noGrp="1"/>
          </p:cNvSpPr>
          <p:nvPr>
            <p:ph type="title"/>
          </p:nvPr>
        </p:nvSpPr>
        <p:spPr>
          <a:xfrm>
            <a:off x="246063" y="248976"/>
            <a:ext cx="5772150" cy="388323"/>
          </a:xfrm>
          <a:prstGeom prst="rect">
            <a:avLst/>
          </a:prstGeom>
        </p:spPr>
        <p:txBody>
          <a:bodyPr lIns="0" tIns="0" rIns="0" bIns="0"/>
          <a:lstStyle>
            <a:lvl1pPr>
              <a:defRPr sz="3500">
                <a:solidFill>
                  <a:schemeClr val="accent1"/>
                </a:solidFill>
              </a:defRPr>
            </a:lvl1pPr>
          </a:lstStyle>
          <a:p>
            <a:r>
              <a:rPr lang="en-US"/>
              <a:t>Click to edit Master title style</a:t>
            </a:r>
            <a:endParaRPr lang="en-GB"/>
          </a:p>
        </p:txBody>
      </p:sp>
      <p:sp>
        <p:nvSpPr>
          <p:cNvPr id="12" name="Subtitle 2">
            <a:extLst>
              <a:ext uri="{FF2B5EF4-FFF2-40B4-BE49-F238E27FC236}">
                <a16:creationId xmlns:a16="http://schemas.microsoft.com/office/drawing/2014/main" id="{2A0B7A5F-616D-0FEE-5970-8D6778BFDAD3}"/>
              </a:ext>
            </a:extLst>
          </p:cNvPr>
          <p:cNvSpPr>
            <a:spLocks noGrp="1"/>
          </p:cNvSpPr>
          <p:nvPr>
            <p:ph type="subTitle" idx="16" hasCustomPrompt="1"/>
          </p:nvPr>
        </p:nvSpPr>
        <p:spPr>
          <a:xfrm>
            <a:off x="269421" y="686880"/>
            <a:ext cx="5748792" cy="292965"/>
          </a:xfrm>
          <a:prstGeom prst="rect">
            <a:avLst/>
          </a:prstGeom>
        </p:spPr>
        <p:txBody>
          <a:bodyPr vert="horz" wrap="square" lIns="0" tIns="0" rIns="0" bIns="0" rtlCol="0" anchor="t">
            <a:spAutoFit/>
          </a:bodyPr>
          <a:lstStyle>
            <a:lvl1pPr>
              <a:defRPr lang="en-GB" sz="1800" b="0" dirty="0">
                <a:solidFill>
                  <a:schemeClr val="tx1"/>
                </a:solidFill>
              </a:defRPr>
            </a:lvl1pPr>
          </a:lstStyle>
          <a:p>
            <a:pPr lvl="0">
              <a:spcBef>
                <a:spcPts val="0"/>
              </a:spcBef>
              <a:spcAft>
                <a:spcPts val="0"/>
              </a:spcAft>
            </a:pPr>
            <a:r>
              <a:rPr lang="en-GB"/>
              <a:t>Subtitle goes here if required</a:t>
            </a:r>
          </a:p>
        </p:txBody>
      </p:sp>
      <p:sp>
        <p:nvSpPr>
          <p:cNvPr id="4" name="Text Placeholder 12">
            <a:extLst>
              <a:ext uri="{FF2B5EF4-FFF2-40B4-BE49-F238E27FC236}">
                <a16:creationId xmlns:a16="http://schemas.microsoft.com/office/drawing/2014/main" id="{0FE1339F-67DA-A3C5-2DD1-E739633B23C9}"/>
              </a:ext>
            </a:extLst>
          </p:cNvPr>
          <p:cNvSpPr>
            <a:spLocks noGrp="1"/>
          </p:cNvSpPr>
          <p:nvPr>
            <p:ph type="body" sz="quarter" idx="62" hasCustomPrompt="1"/>
          </p:nvPr>
        </p:nvSpPr>
        <p:spPr>
          <a:xfrm>
            <a:off x="265113" y="5969778"/>
            <a:ext cx="11658600" cy="301752"/>
          </a:xfrm>
          <a:prstGeom prst="rect">
            <a:avLst/>
          </a:prstGeom>
        </p:spPr>
        <p:txBody>
          <a:bodyPr lIns="0" tIns="0" bIns="0" anchor="b"/>
          <a:lstStyle>
            <a:lvl1pPr>
              <a:defRPr sz="800"/>
            </a:lvl1pPr>
          </a:lstStyle>
          <a:p>
            <a:pPr>
              <a:spcBef>
                <a:spcPts val="0"/>
              </a:spcBef>
              <a:spcAft>
                <a:spcPts val="300"/>
              </a:spcAft>
            </a:pPr>
            <a:r>
              <a:rPr lang="en-US" b="0" i="0">
                <a:effectLst/>
              </a:rPr>
              <a:t>Slide legal disclaimer goes here if required</a:t>
            </a:r>
          </a:p>
        </p:txBody>
      </p:sp>
      <p:sp>
        <p:nvSpPr>
          <p:cNvPr id="9" name="Rectangle 8">
            <a:extLst>
              <a:ext uri="{FF2B5EF4-FFF2-40B4-BE49-F238E27FC236}">
                <a16:creationId xmlns:a16="http://schemas.microsoft.com/office/drawing/2014/main" id="{3C8727E1-D197-2FC2-251F-B8B6C0236146}"/>
              </a:ext>
            </a:extLst>
          </p:cNvPr>
          <p:cNvSpPr/>
          <p:nvPr userDrawn="1"/>
        </p:nvSpPr>
        <p:spPr>
          <a:xfrm>
            <a:off x="6308725" y="4034571"/>
            <a:ext cx="2795587" cy="18712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a:endParaRPr>
          </a:p>
        </p:txBody>
      </p:sp>
      <p:sp>
        <p:nvSpPr>
          <p:cNvPr id="14" name="Rectangle 13">
            <a:extLst>
              <a:ext uri="{FF2B5EF4-FFF2-40B4-BE49-F238E27FC236}">
                <a16:creationId xmlns:a16="http://schemas.microsoft.com/office/drawing/2014/main" id="{5C6A8DFC-2C53-5D6C-76E6-07C68DDB6243}"/>
              </a:ext>
            </a:extLst>
          </p:cNvPr>
          <p:cNvSpPr/>
          <p:nvPr userDrawn="1"/>
        </p:nvSpPr>
        <p:spPr>
          <a:xfrm>
            <a:off x="9104313" y="2202460"/>
            <a:ext cx="2819400" cy="163524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a:endParaRPr>
          </a:p>
        </p:txBody>
      </p:sp>
      <p:sp>
        <p:nvSpPr>
          <p:cNvPr id="15" name="Rectangle 14">
            <a:extLst>
              <a:ext uri="{FF2B5EF4-FFF2-40B4-BE49-F238E27FC236}">
                <a16:creationId xmlns:a16="http://schemas.microsoft.com/office/drawing/2014/main" id="{0AFEC581-7275-D786-1166-552020E63CEB}"/>
              </a:ext>
            </a:extLst>
          </p:cNvPr>
          <p:cNvSpPr/>
          <p:nvPr userDrawn="1"/>
        </p:nvSpPr>
        <p:spPr>
          <a:xfrm>
            <a:off x="6308725" y="649288"/>
            <a:ext cx="2795588" cy="139766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a:endParaRPr>
          </a:p>
        </p:txBody>
      </p:sp>
      <p:cxnSp>
        <p:nvCxnSpPr>
          <p:cNvPr id="16" name="Straight Connector 15">
            <a:extLst>
              <a:ext uri="{FF2B5EF4-FFF2-40B4-BE49-F238E27FC236}">
                <a16:creationId xmlns:a16="http://schemas.microsoft.com/office/drawing/2014/main" id="{A4216AAC-0672-BEA4-11C6-E858D2C12E53}"/>
              </a:ext>
            </a:extLst>
          </p:cNvPr>
          <p:cNvCxnSpPr>
            <a:cxnSpLocks/>
          </p:cNvCxnSpPr>
          <p:nvPr userDrawn="1"/>
        </p:nvCxnSpPr>
        <p:spPr bwMode="auto">
          <a:xfrm>
            <a:off x="10505152" y="2643874"/>
            <a:ext cx="0" cy="886327"/>
          </a:xfrm>
          <a:prstGeom prst="line">
            <a:avLst/>
          </a:prstGeom>
          <a:solidFill>
            <a:srgbClr val="C0C0C0"/>
          </a:solidFill>
          <a:ln w="12700" cap="flat" cmpd="sng" algn="ctr">
            <a:solidFill>
              <a:schemeClr val="tx1"/>
            </a:solidFill>
            <a:prstDash val="solid"/>
            <a:round/>
            <a:headEnd type="none" w="med" len="med"/>
            <a:tailEnd type="none" w="med" len="med"/>
          </a:ln>
          <a:effectLst/>
        </p:spPr>
      </p:cxnSp>
      <p:sp>
        <p:nvSpPr>
          <p:cNvPr id="17" name="Rectangle 16">
            <a:extLst>
              <a:ext uri="{FF2B5EF4-FFF2-40B4-BE49-F238E27FC236}">
                <a16:creationId xmlns:a16="http://schemas.microsoft.com/office/drawing/2014/main" id="{C2E4B5A7-0438-1F60-04B5-70B5F34B3525}"/>
              </a:ext>
            </a:extLst>
          </p:cNvPr>
          <p:cNvSpPr/>
          <p:nvPr userDrawn="1"/>
        </p:nvSpPr>
        <p:spPr>
          <a:xfrm>
            <a:off x="6308725" y="266700"/>
            <a:ext cx="2795587" cy="403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a:endParaRPr>
          </a:p>
        </p:txBody>
      </p:sp>
      <p:sp>
        <p:nvSpPr>
          <p:cNvPr id="19" name="Text Placeholder 61">
            <a:extLst>
              <a:ext uri="{FF2B5EF4-FFF2-40B4-BE49-F238E27FC236}">
                <a16:creationId xmlns:a16="http://schemas.microsoft.com/office/drawing/2014/main" id="{D4179916-09AB-D585-DA52-8084853F07B0}"/>
              </a:ext>
            </a:extLst>
          </p:cNvPr>
          <p:cNvSpPr>
            <a:spLocks noGrp="1"/>
          </p:cNvSpPr>
          <p:nvPr>
            <p:ph type="body" sz="quarter" idx="22" hasCustomPrompt="1"/>
          </p:nvPr>
        </p:nvSpPr>
        <p:spPr>
          <a:xfrm>
            <a:off x="6449438" y="751085"/>
            <a:ext cx="2497824" cy="1203536"/>
          </a:xfrm>
          <a:prstGeom prst="rect">
            <a:avLst/>
          </a:prstGeom>
        </p:spPr>
        <p:txBody>
          <a:bodyPr lIns="0" tIns="0" bIns="0"/>
          <a:lstStyle>
            <a:lvl1pPr marL="0" indent="0">
              <a:lnSpc>
                <a:spcPct val="100000"/>
              </a:lnSpc>
              <a:spcBef>
                <a:spcPts val="300"/>
              </a:spcBef>
              <a:spcAft>
                <a:spcPts val="300"/>
              </a:spcAft>
              <a:buFont typeface="Arial" panose="020B0604020202020204" pitchFamily="34" charset="0"/>
              <a:buNone/>
              <a:defRPr sz="1200"/>
            </a:lvl1pPr>
            <a:lvl3pPr marL="285750" indent="0">
              <a:lnSpc>
                <a:spcPct val="100000"/>
              </a:lnSpc>
              <a:spcBef>
                <a:spcPts val="300"/>
              </a:spcBef>
              <a:spcAft>
                <a:spcPts val="300"/>
              </a:spcAft>
              <a:buNone/>
              <a:defRPr sz="1200"/>
            </a:lvl3pPr>
            <a:lvl5pPr>
              <a:defRPr sz="1200"/>
            </a:lvl5pPr>
          </a:lstStyle>
          <a:p>
            <a:pPr>
              <a:lnSpc>
                <a:spcPct val="150000"/>
              </a:lnSpc>
              <a:spcBef>
                <a:spcPts val="0"/>
              </a:spcBef>
              <a:spcAft>
                <a:spcPts val="0"/>
              </a:spcAft>
            </a:pPr>
            <a:r>
              <a:rPr lang="en-US"/>
              <a:t>And brief supporting copy</a:t>
            </a:r>
          </a:p>
          <a:p>
            <a:pPr marL="571500" lvl="2" indent="-285750">
              <a:lnSpc>
                <a:spcPct val="150000"/>
              </a:lnSpc>
              <a:spcAft>
                <a:spcPts val="0"/>
              </a:spcAft>
            </a:pPr>
            <a:r>
              <a:rPr lang="en-US" sz="1200"/>
              <a:t>There are a variety of ways</a:t>
            </a:r>
          </a:p>
          <a:p>
            <a:pPr marL="571500" lvl="2" indent="-285750">
              <a:lnSpc>
                <a:spcPct val="150000"/>
              </a:lnSpc>
              <a:spcAft>
                <a:spcPts val="0"/>
              </a:spcAft>
            </a:pPr>
            <a:r>
              <a:rPr lang="en-US" sz="1200"/>
              <a:t>To display bite-sized</a:t>
            </a:r>
          </a:p>
          <a:p>
            <a:pPr marL="571500" lvl="2" indent="-285750">
              <a:lnSpc>
                <a:spcPct val="150000"/>
              </a:lnSpc>
              <a:spcAft>
                <a:spcPts val="0"/>
              </a:spcAft>
            </a:pPr>
            <a:r>
              <a:rPr lang="en-US" sz="1200"/>
              <a:t>Content in a fact sheet</a:t>
            </a:r>
          </a:p>
        </p:txBody>
      </p:sp>
      <p:sp>
        <p:nvSpPr>
          <p:cNvPr id="20" name="Text Placeholder 61">
            <a:extLst>
              <a:ext uri="{FF2B5EF4-FFF2-40B4-BE49-F238E27FC236}">
                <a16:creationId xmlns:a16="http://schemas.microsoft.com/office/drawing/2014/main" id="{8B4C4FE2-23A6-0A45-D425-93D7A6EADA1B}"/>
              </a:ext>
            </a:extLst>
          </p:cNvPr>
          <p:cNvSpPr>
            <a:spLocks noGrp="1"/>
          </p:cNvSpPr>
          <p:nvPr>
            <p:ph type="body" sz="quarter" idx="23" hasCustomPrompt="1"/>
          </p:nvPr>
        </p:nvSpPr>
        <p:spPr>
          <a:xfrm>
            <a:off x="6308725" y="2791103"/>
            <a:ext cx="2681288" cy="384048"/>
          </a:xfrm>
          <a:prstGeom prst="rect">
            <a:avLst/>
          </a:prstGeom>
        </p:spPr>
        <p:txBody>
          <a:bodyPr lIns="0" tIns="0"/>
          <a:lstStyle>
            <a:lvl1pPr>
              <a:defRPr sz="1200" b="1" i="0">
                <a:latin typeface="Arial"/>
              </a:defRPr>
            </a:lvl1pPr>
            <a:lvl5pPr>
              <a:defRPr sz="1200"/>
            </a:lvl5pPr>
          </a:lstStyle>
          <a:p>
            <a:r>
              <a:rPr lang="en-US" sz="1200" b="1"/>
              <a:t>Limit headlines to no more than two lines</a:t>
            </a:r>
          </a:p>
        </p:txBody>
      </p:sp>
      <p:sp>
        <p:nvSpPr>
          <p:cNvPr id="21" name="Text Placeholder 61">
            <a:extLst>
              <a:ext uri="{FF2B5EF4-FFF2-40B4-BE49-F238E27FC236}">
                <a16:creationId xmlns:a16="http://schemas.microsoft.com/office/drawing/2014/main" id="{C17E87E5-B14A-CB89-9CFE-57686066B257}"/>
              </a:ext>
            </a:extLst>
          </p:cNvPr>
          <p:cNvSpPr>
            <a:spLocks noGrp="1"/>
          </p:cNvSpPr>
          <p:nvPr>
            <p:ph type="body" sz="quarter" idx="26" hasCustomPrompt="1"/>
          </p:nvPr>
        </p:nvSpPr>
        <p:spPr>
          <a:xfrm>
            <a:off x="6449438" y="4153767"/>
            <a:ext cx="2518870" cy="1071710"/>
          </a:xfrm>
          <a:prstGeom prst="rect">
            <a:avLst/>
          </a:prstGeom>
        </p:spPr>
        <p:txBody>
          <a:bodyPr lIns="0" tIns="0" rIns="0" bIns="0"/>
          <a:lstStyle>
            <a:lvl1pPr>
              <a:defRPr sz="1200" b="0" i="1">
                <a:solidFill>
                  <a:srgbClr val="F6F3F2"/>
                </a:solidFill>
                <a:latin typeface="Arial"/>
              </a:defRPr>
            </a:lvl1pPr>
            <a:lvl5pPr>
              <a:defRPr sz="1200"/>
            </a:lvl5pPr>
          </a:lstStyle>
          <a:p>
            <a:r>
              <a:rPr lang="en-US" sz="1200" i="1">
                <a:solidFill>
                  <a:schemeClr val="bg1"/>
                </a:solidFill>
              </a:rPr>
              <a:t>“Attributed quotes from leadership or key opinion leaders can provide impact and relevance.”</a:t>
            </a:r>
          </a:p>
        </p:txBody>
      </p:sp>
      <p:sp>
        <p:nvSpPr>
          <p:cNvPr id="22" name="Text Placeholder 61">
            <a:extLst>
              <a:ext uri="{FF2B5EF4-FFF2-40B4-BE49-F238E27FC236}">
                <a16:creationId xmlns:a16="http://schemas.microsoft.com/office/drawing/2014/main" id="{AF201919-F05B-F0A0-90D6-F83C4A4A4804}"/>
              </a:ext>
            </a:extLst>
          </p:cNvPr>
          <p:cNvSpPr>
            <a:spLocks noGrp="1"/>
          </p:cNvSpPr>
          <p:nvPr>
            <p:ph type="body" sz="quarter" idx="27" hasCustomPrompt="1"/>
          </p:nvPr>
        </p:nvSpPr>
        <p:spPr>
          <a:xfrm>
            <a:off x="6449438" y="384175"/>
            <a:ext cx="2497824" cy="184316"/>
          </a:xfrm>
          <a:prstGeom prst="rect">
            <a:avLst/>
          </a:prstGeom>
        </p:spPr>
        <p:txBody>
          <a:bodyPr lIns="0" anchor="ctr"/>
          <a:lstStyle>
            <a:lvl1pPr>
              <a:lnSpc>
                <a:spcPct val="100000"/>
              </a:lnSpc>
              <a:defRPr sz="1200" b="1" i="0">
                <a:solidFill>
                  <a:schemeClr val="bg1"/>
                </a:solidFill>
                <a:latin typeface="Arial"/>
              </a:defRPr>
            </a:lvl1pPr>
            <a:lvl5pPr>
              <a:defRPr sz="1200"/>
            </a:lvl5pPr>
          </a:lstStyle>
          <a:p>
            <a:r>
              <a:rPr lang="en-US" sz="1200" b="1">
                <a:solidFill>
                  <a:schemeClr val="bg1"/>
                </a:solidFill>
              </a:rPr>
              <a:t>Use brief headlines</a:t>
            </a:r>
          </a:p>
        </p:txBody>
      </p:sp>
      <p:sp>
        <p:nvSpPr>
          <p:cNvPr id="23" name="Text Placeholder 61">
            <a:extLst>
              <a:ext uri="{FF2B5EF4-FFF2-40B4-BE49-F238E27FC236}">
                <a16:creationId xmlns:a16="http://schemas.microsoft.com/office/drawing/2014/main" id="{587D701D-76B7-1557-D56B-EAF3D39F7427}"/>
              </a:ext>
            </a:extLst>
          </p:cNvPr>
          <p:cNvSpPr>
            <a:spLocks noGrp="1"/>
          </p:cNvSpPr>
          <p:nvPr>
            <p:ph type="body" sz="quarter" idx="28" hasCustomPrompt="1"/>
          </p:nvPr>
        </p:nvSpPr>
        <p:spPr>
          <a:xfrm>
            <a:off x="6308725" y="3279195"/>
            <a:ext cx="2681288" cy="640108"/>
          </a:xfrm>
          <a:prstGeom prst="rect">
            <a:avLst/>
          </a:prstGeom>
        </p:spPr>
        <p:txBody>
          <a:bodyPr lIns="0" tIns="0"/>
          <a:lstStyle>
            <a:lvl1pPr>
              <a:defRPr sz="1200"/>
            </a:lvl1pPr>
            <a:lvl5pPr>
              <a:defRPr sz="1200"/>
            </a:lvl5pPr>
          </a:lstStyle>
          <a:p>
            <a:r>
              <a:rPr lang="en-US" sz="1200"/>
              <a:t>Supporting copy should be concise and limited to no more than three lines</a:t>
            </a:r>
          </a:p>
        </p:txBody>
      </p:sp>
      <p:sp>
        <p:nvSpPr>
          <p:cNvPr id="24" name="Text Placeholder 98">
            <a:extLst>
              <a:ext uri="{FF2B5EF4-FFF2-40B4-BE49-F238E27FC236}">
                <a16:creationId xmlns:a16="http://schemas.microsoft.com/office/drawing/2014/main" id="{8AAF5126-226B-54D8-1952-6E2ACCA1D060}"/>
              </a:ext>
            </a:extLst>
          </p:cNvPr>
          <p:cNvSpPr>
            <a:spLocks noGrp="1"/>
          </p:cNvSpPr>
          <p:nvPr>
            <p:ph type="body" sz="quarter" idx="41" hasCustomPrompt="1"/>
          </p:nvPr>
        </p:nvSpPr>
        <p:spPr>
          <a:xfrm>
            <a:off x="10692777" y="3087038"/>
            <a:ext cx="1007961" cy="428625"/>
          </a:xfrm>
          <a:prstGeom prst="rect">
            <a:avLst/>
          </a:prstGeom>
        </p:spPr>
        <p:txBody>
          <a:bodyPr lIns="0" tIns="0" rIns="0" bIns="0"/>
          <a:lstStyle>
            <a:lvl1pPr>
              <a:defRPr sz="1200"/>
            </a:lvl1pPr>
          </a:lstStyle>
          <a:p>
            <a:pPr lvl="0"/>
            <a:r>
              <a:rPr lang="en-US"/>
              <a:t>Use data and statistics</a:t>
            </a:r>
          </a:p>
        </p:txBody>
      </p:sp>
      <p:sp>
        <p:nvSpPr>
          <p:cNvPr id="25" name="Text Placeholder 98">
            <a:extLst>
              <a:ext uri="{FF2B5EF4-FFF2-40B4-BE49-F238E27FC236}">
                <a16:creationId xmlns:a16="http://schemas.microsoft.com/office/drawing/2014/main" id="{AECC61B3-2730-CF36-AB49-442825C2E6FD}"/>
              </a:ext>
            </a:extLst>
          </p:cNvPr>
          <p:cNvSpPr>
            <a:spLocks noGrp="1"/>
          </p:cNvSpPr>
          <p:nvPr>
            <p:ph type="body" sz="quarter" idx="44" hasCustomPrompt="1"/>
          </p:nvPr>
        </p:nvSpPr>
        <p:spPr>
          <a:xfrm>
            <a:off x="9320641" y="3087038"/>
            <a:ext cx="989004" cy="428625"/>
          </a:xfrm>
          <a:prstGeom prst="rect">
            <a:avLst/>
          </a:prstGeom>
        </p:spPr>
        <p:txBody>
          <a:bodyPr lIns="0" tIns="0" rIns="0" bIns="0"/>
          <a:lstStyle>
            <a:lvl1pPr>
              <a:defRPr sz="1200"/>
            </a:lvl1pPr>
          </a:lstStyle>
          <a:p>
            <a:pPr lvl="0"/>
            <a:r>
              <a:rPr lang="en-US"/>
              <a:t>Use data and statistics</a:t>
            </a:r>
          </a:p>
        </p:txBody>
      </p:sp>
      <p:sp>
        <p:nvSpPr>
          <p:cNvPr id="26" name="Text Placeholder 61">
            <a:extLst>
              <a:ext uri="{FF2B5EF4-FFF2-40B4-BE49-F238E27FC236}">
                <a16:creationId xmlns:a16="http://schemas.microsoft.com/office/drawing/2014/main" id="{79FFF53E-C992-5260-5F52-820DDEBCACF0}"/>
              </a:ext>
            </a:extLst>
          </p:cNvPr>
          <p:cNvSpPr>
            <a:spLocks noGrp="1"/>
          </p:cNvSpPr>
          <p:nvPr>
            <p:ph type="body" sz="quarter" idx="46" hasCustomPrompt="1"/>
          </p:nvPr>
        </p:nvSpPr>
        <p:spPr>
          <a:xfrm>
            <a:off x="6450247" y="5368374"/>
            <a:ext cx="2518061" cy="171230"/>
          </a:xfrm>
          <a:prstGeom prst="rect">
            <a:avLst/>
          </a:prstGeom>
        </p:spPr>
        <p:txBody>
          <a:bodyPr lIns="0" tIns="0" rIns="0" bIns="0"/>
          <a:lstStyle>
            <a:lvl1pPr>
              <a:defRPr sz="1200" b="1" i="0">
                <a:solidFill>
                  <a:srgbClr val="F6F3F2"/>
                </a:solidFill>
                <a:latin typeface="Arial"/>
              </a:defRPr>
            </a:lvl1pPr>
            <a:lvl5pPr>
              <a:defRPr sz="1200"/>
            </a:lvl5pPr>
          </a:lstStyle>
          <a:p>
            <a:pPr>
              <a:lnSpc>
                <a:spcPct val="100000"/>
              </a:lnSpc>
              <a:spcBef>
                <a:spcPts val="0"/>
              </a:spcBef>
              <a:spcAft>
                <a:spcPts val="0"/>
              </a:spcAft>
            </a:pPr>
            <a:r>
              <a:rPr lang="en-US" sz="1200" b="1">
                <a:solidFill>
                  <a:schemeClr val="bg1"/>
                </a:solidFill>
              </a:rPr>
              <a:t>Name</a:t>
            </a:r>
          </a:p>
          <a:p>
            <a:pPr>
              <a:lnSpc>
                <a:spcPct val="100000"/>
              </a:lnSpc>
              <a:spcBef>
                <a:spcPts val="0"/>
              </a:spcBef>
              <a:spcAft>
                <a:spcPts val="0"/>
              </a:spcAft>
            </a:pPr>
            <a:endParaRPr lang="en-US" sz="1200">
              <a:solidFill>
                <a:schemeClr val="bg1"/>
              </a:solidFill>
            </a:endParaRPr>
          </a:p>
          <a:p>
            <a:endParaRPr lang="en-US" sz="1200" i="1">
              <a:solidFill>
                <a:schemeClr val="bg1"/>
              </a:solidFill>
            </a:endParaRPr>
          </a:p>
        </p:txBody>
      </p:sp>
      <p:sp>
        <p:nvSpPr>
          <p:cNvPr id="27" name="Text Placeholder 61">
            <a:extLst>
              <a:ext uri="{FF2B5EF4-FFF2-40B4-BE49-F238E27FC236}">
                <a16:creationId xmlns:a16="http://schemas.microsoft.com/office/drawing/2014/main" id="{A285402C-4301-4D1D-B61C-76474CBF8252}"/>
              </a:ext>
            </a:extLst>
          </p:cNvPr>
          <p:cNvSpPr>
            <a:spLocks noGrp="1"/>
          </p:cNvSpPr>
          <p:nvPr>
            <p:ph type="body" sz="quarter" idx="47" hasCustomPrompt="1"/>
          </p:nvPr>
        </p:nvSpPr>
        <p:spPr>
          <a:xfrm>
            <a:off x="6450247" y="5581904"/>
            <a:ext cx="2518061" cy="171230"/>
          </a:xfrm>
          <a:prstGeom prst="rect">
            <a:avLst/>
          </a:prstGeom>
        </p:spPr>
        <p:txBody>
          <a:bodyPr lIns="0" tIns="0" rIns="0" bIns="0"/>
          <a:lstStyle>
            <a:lvl1pPr>
              <a:defRPr sz="1200" b="0" i="0">
                <a:solidFill>
                  <a:srgbClr val="F6F3F2"/>
                </a:solidFill>
                <a:latin typeface="Arial"/>
              </a:defRPr>
            </a:lvl1pPr>
            <a:lvl5pPr>
              <a:defRPr sz="1200"/>
            </a:lvl5pPr>
          </a:lstStyle>
          <a:p>
            <a:pPr>
              <a:lnSpc>
                <a:spcPct val="100000"/>
              </a:lnSpc>
              <a:spcBef>
                <a:spcPts val="0"/>
              </a:spcBef>
              <a:spcAft>
                <a:spcPts val="0"/>
              </a:spcAft>
            </a:pPr>
            <a:r>
              <a:rPr lang="en-US" sz="1200">
                <a:solidFill>
                  <a:schemeClr val="bg1"/>
                </a:solidFill>
              </a:rPr>
              <a:t>Credentials</a:t>
            </a:r>
          </a:p>
        </p:txBody>
      </p:sp>
      <p:sp>
        <p:nvSpPr>
          <p:cNvPr id="28" name="Text Placeholder 110">
            <a:extLst>
              <a:ext uri="{FF2B5EF4-FFF2-40B4-BE49-F238E27FC236}">
                <a16:creationId xmlns:a16="http://schemas.microsoft.com/office/drawing/2014/main" id="{761CC63F-28D9-886C-AD0C-23BCAB766F77}"/>
              </a:ext>
            </a:extLst>
          </p:cNvPr>
          <p:cNvSpPr>
            <a:spLocks noGrp="1"/>
          </p:cNvSpPr>
          <p:nvPr>
            <p:ph type="body" sz="quarter" idx="50" hasCustomPrompt="1"/>
          </p:nvPr>
        </p:nvSpPr>
        <p:spPr>
          <a:xfrm>
            <a:off x="10692856" y="2520301"/>
            <a:ext cx="1007965" cy="452437"/>
          </a:xfrm>
          <a:prstGeom prst="rect">
            <a:avLst/>
          </a:prstGeom>
        </p:spPr>
        <p:txBody>
          <a:bodyPr lIns="0" tIns="0" rIns="0" bIns="0"/>
          <a:lstStyle>
            <a:lvl1pPr>
              <a:defRPr sz="3200">
                <a:solidFill>
                  <a:schemeClr val="accent1"/>
                </a:solidFill>
                <a:latin typeface="Arial"/>
              </a:defRPr>
            </a:lvl1pPr>
          </a:lstStyle>
          <a:p>
            <a:pPr lvl="0"/>
            <a:r>
              <a:rPr lang="en-US"/>
              <a:t>2023</a:t>
            </a:r>
          </a:p>
        </p:txBody>
      </p:sp>
      <p:sp>
        <p:nvSpPr>
          <p:cNvPr id="29" name="Text Placeholder 110">
            <a:extLst>
              <a:ext uri="{FF2B5EF4-FFF2-40B4-BE49-F238E27FC236}">
                <a16:creationId xmlns:a16="http://schemas.microsoft.com/office/drawing/2014/main" id="{9116755A-32AA-1089-4D6B-509CC476729B}"/>
              </a:ext>
            </a:extLst>
          </p:cNvPr>
          <p:cNvSpPr>
            <a:spLocks noGrp="1"/>
          </p:cNvSpPr>
          <p:nvPr>
            <p:ph type="body" sz="quarter" idx="51" hasCustomPrompt="1"/>
          </p:nvPr>
        </p:nvSpPr>
        <p:spPr>
          <a:xfrm>
            <a:off x="9320719" y="2520301"/>
            <a:ext cx="989013" cy="452437"/>
          </a:xfrm>
          <a:prstGeom prst="rect">
            <a:avLst/>
          </a:prstGeom>
        </p:spPr>
        <p:txBody>
          <a:bodyPr lIns="0" tIns="0" rIns="0" bIns="0"/>
          <a:lstStyle>
            <a:lvl1pPr>
              <a:defRPr sz="3200">
                <a:solidFill>
                  <a:schemeClr val="accent1"/>
                </a:solidFill>
                <a:latin typeface="Arial"/>
              </a:defRPr>
            </a:lvl1pPr>
          </a:lstStyle>
          <a:p>
            <a:pPr lvl="0"/>
            <a:r>
              <a:rPr lang="en-US"/>
              <a:t>100%</a:t>
            </a:r>
          </a:p>
        </p:txBody>
      </p:sp>
      <p:sp>
        <p:nvSpPr>
          <p:cNvPr id="30" name="Text Placeholder 61">
            <a:extLst>
              <a:ext uri="{FF2B5EF4-FFF2-40B4-BE49-F238E27FC236}">
                <a16:creationId xmlns:a16="http://schemas.microsoft.com/office/drawing/2014/main" id="{199A21BE-F54D-4B69-0797-37D5D4EA8367}"/>
              </a:ext>
            </a:extLst>
          </p:cNvPr>
          <p:cNvSpPr>
            <a:spLocks noGrp="1"/>
          </p:cNvSpPr>
          <p:nvPr>
            <p:ph type="body" sz="quarter" idx="53" hasCustomPrompt="1"/>
          </p:nvPr>
        </p:nvSpPr>
        <p:spPr>
          <a:xfrm>
            <a:off x="9270151" y="983584"/>
            <a:ext cx="2653561" cy="384048"/>
          </a:xfrm>
          <a:prstGeom prst="rect">
            <a:avLst/>
          </a:prstGeom>
        </p:spPr>
        <p:txBody>
          <a:bodyPr lIns="0" tIns="0" rIns="0"/>
          <a:lstStyle>
            <a:lvl1pPr>
              <a:defRPr sz="1200" b="1" i="0">
                <a:latin typeface="Arial"/>
              </a:defRPr>
            </a:lvl1pPr>
            <a:lvl5pPr>
              <a:defRPr sz="1200"/>
            </a:lvl5pPr>
          </a:lstStyle>
          <a:p>
            <a:r>
              <a:rPr lang="en-US" sz="1200" b="1"/>
              <a:t>Limit headlines to no more than two lines</a:t>
            </a:r>
          </a:p>
        </p:txBody>
      </p:sp>
      <p:sp>
        <p:nvSpPr>
          <p:cNvPr id="31" name="Text Placeholder 61">
            <a:extLst>
              <a:ext uri="{FF2B5EF4-FFF2-40B4-BE49-F238E27FC236}">
                <a16:creationId xmlns:a16="http://schemas.microsoft.com/office/drawing/2014/main" id="{B9242C25-069A-8E84-ED76-B5510FDB921E}"/>
              </a:ext>
            </a:extLst>
          </p:cNvPr>
          <p:cNvSpPr>
            <a:spLocks noGrp="1"/>
          </p:cNvSpPr>
          <p:nvPr>
            <p:ph type="body" sz="quarter" idx="54" hasCustomPrompt="1"/>
          </p:nvPr>
        </p:nvSpPr>
        <p:spPr>
          <a:xfrm>
            <a:off x="9276397" y="1471675"/>
            <a:ext cx="2647316" cy="575275"/>
          </a:xfrm>
          <a:prstGeom prst="rect">
            <a:avLst/>
          </a:prstGeom>
        </p:spPr>
        <p:txBody>
          <a:bodyPr lIns="0" tIns="0" rIns="0"/>
          <a:lstStyle>
            <a:lvl1pPr>
              <a:defRPr sz="1200"/>
            </a:lvl1pPr>
            <a:lvl5pPr>
              <a:defRPr sz="1200"/>
            </a:lvl5pPr>
          </a:lstStyle>
          <a:p>
            <a:r>
              <a:rPr lang="en-US" sz="1200"/>
              <a:t>Supporting copy should be concise and limited to no more than three lines</a:t>
            </a:r>
          </a:p>
        </p:txBody>
      </p:sp>
      <p:sp>
        <p:nvSpPr>
          <p:cNvPr id="32" name="Text Placeholder 61">
            <a:extLst>
              <a:ext uri="{FF2B5EF4-FFF2-40B4-BE49-F238E27FC236}">
                <a16:creationId xmlns:a16="http://schemas.microsoft.com/office/drawing/2014/main" id="{B7C6FAD8-3321-0C4F-EE1E-8CBEE763B48F}"/>
              </a:ext>
            </a:extLst>
          </p:cNvPr>
          <p:cNvSpPr>
            <a:spLocks noGrp="1"/>
          </p:cNvSpPr>
          <p:nvPr>
            <p:ph type="body" sz="quarter" idx="56" hasCustomPrompt="1"/>
          </p:nvPr>
        </p:nvSpPr>
        <p:spPr>
          <a:xfrm>
            <a:off x="9270151" y="4727085"/>
            <a:ext cx="2653562" cy="384048"/>
          </a:xfrm>
          <a:prstGeom prst="rect">
            <a:avLst/>
          </a:prstGeom>
        </p:spPr>
        <p:txBody>
          <a:bodyPr lIns="0" tIns="0" rIns="0" bIns="0"/>
          <a:lstStyle>
            <a:lvl1pPr>
              <a:defRPr sz="1200" b="1" i="0">
                <a:latin typeface="Arial"/>
              </a:defRPr>
            </a:lvl1pPr>
            <a:lvl5pPr>
              <a:defRPr sz="1200"/>
            </a:lvl5pPr>
          </a:lstStyle>
          <a:p>
            <a:r>
              <a:rPr lang="en-US" sz="1200" b="1"/>
              <a:t>Limit headlines to no more than two lines</a:t>
            </a:r>
          </a:p>
        </p:txBody>
      </p:sp>
      <p:sp>
        <p:nvSpPr>
          <p:cNvPr id="33" name="Text Placeholder 61">
            <a:extLst>
              <a:ext uri="{FF2B5EF4-FFF2-40B4-BE49-F238E27FC236}">
                <a16:creationId xmlns:a16="http://schemas.microsoft.com/office/drawing/2014/main" id="{2F41CDB6-1AE4-45CE-9CD0-2612E40190AB}"/>
              </a:ext>
            </a:extLst>
          </p:cNvPr>
          <p:cNvSpPr>
            <a:spLocks noGrp="1"/>
          </p:cNvSpPr>
          <p:nvPr>
            <p:ph type="body" sz="quarter" idx="57" hasCustomPrompt="1"/>
          </p:nvPr>
        </p:nvSpPr>
        <p:spPr>
          <a:xfrm>
            <a:off x="9276398" y="5215176"/>
            <a:ext cx="2647315" cy="537958"/>
          </a:xfrm>
          <a:prstGeom prst="rect">
            <a:avLst/>
          </a:prstGeom>
        </p:spPr>
        <p:txBody>
          <a:bodyPr lIns="0" tIns="0" rIns="0" bIns="0"/>
          <a:lstStyle>
            <a:lvl1pPr>
              <a:defRPr sz="1200"/>
            </a:lvl1pPr>
            <a:lvl5pPr>
              <a:defRPr sz="1200"/>
            </a:lvl5pPr>
          </a:lstStyle>
          <a:p>
            <a:r>
              <a:rPr lang="en-US" sz="1200"/>
              <a:t>Supporting copy should be concise and limited to no more than three lines</a:t>
            </a:r>
          </a:p>
        </p:txBody>
      </p:sp>
      <p:sp>
        <p:nvSpPr>
          <p:cNvPr id="38" name="Picture Placeholder 37">
            <a:extLst>
              <a:ext uri="{FF2B5EF4-FFF2-40B4-BE49-F238E27FC236}">
                <a16:creationId xmlns:a16="http://schemas.microsoft.com/office/drawing/2014/main" id="{1F3BE1AE-EECF-46D9-D378-64BE88B56E4A}"/>
              </a:ext>
            </a:extLst>
          </p:cNvPr>
          <p:cNvSpPr>
            <a:spLocks noGrp="1"/>
          </p:cNvSpPr>
          <p:nvPr>
            <p:ph type="pic" sz="quarter" idx="63" hasCustomPrompt="1"/>
          </p:nvPr>
        </p:nvSpPr>
        <p:spPr>
          <a:xfrm>
            <a:off x="6308725" y="2308699"/>
            <a:ext cx="407988" cy="407987"/>
          </a:xfrm>
          <a:prstGeom prst="rect">
            <a:avLst/>
          </a:prstGeom>
          <a:solidFill>
            <a:schemeClr val="bg1"/>
          </a:solidFill>
        </p:spPr>
        <p:txBody>
          <a:bodyPr lIns="27432" tIns="0"/>
          <a:lstStyle>
            <a:lvl1pPr>
              <a:defRPr sz="700">
                <a:solidFill>
                  <a:schemeClr val="tx1"/>
                </a:solidFill>
              </a:defRPr>
            </a:lvl1pPr>
          </a:lstStyle>
          <a:p>
            <a:r>
              <a:rPr lang="en-US"/>
              <a:t>Icon</a:t>
            </a:r>
          </a:p>
        </p:txBody>
      </p:sp>
      <p:sp>
        <p:nvSpPr>
          <p:cNvPr id="40" name="Picture Placeholder 37">
            <a:extLst>
              <a:ext uri="{FF2B5EF4-FFF2-40B4-BE49-F238E27FC236}">
                <a16:creationId xmlns:a16="http://schemas.microsoft.com/office/drawing/2014/main" id="{0E1A2B1A-016E-4443-2D9A-3D0F540D1148}"/>
              </a:ext>
            </a:extLst>
          </p:cNvPr>
          <p:cNvSpPr>
            <a:spLocks noGrp="1"/>
          </p:cNvSpPr>
          <p:nvPr>
            <p:ph type="pic" sz="quarter" idx="64" hasCustomPrompt="1"/>
          </p:nvPr>
        </p:nvSpPr>
        <p:spPr>
          <a:xfrm>
            <a:off x="9270152" y="436598"/>
            <a:ext cx="407988" cy="407987"/>
          </a:xfrm>
          <a:prstGeom prst="rect">
            <a:avLst/>
          </a:prstGeom>
          <a:solidFill>
            <a:schemeClr val="bg1"/>
          </a:solidFill>
        </p:spPr>
        <p:txBody>
          <a:bodyPr lIns="27432" tIns="0"/>
          <a:lstStyle>
            <a:lvl1pPr>
              <a:defRPr sz="700">
                <a:solidFill>
                  <a:schemeClr val="tx1"/>
                </a:solidFill>
              </a:defRPr>
            </a:lvl1pPr>
          </a:lstStyle>
          <a:p>
            <a:r>
              <a:rPr lang="en-US"/>
              <a:t>Icon</a:t>
            </a:r>
          </a:p>
        </p:txBody>
      </p:sp>
      <p:sp>
        <p:nvSpPr>
          <p:cNvPr id="42" name="Picture Placeholder 37">
            <a:extLst>
              <a:ext uri="{FF2B5EF4-FFF2-40B4-BE49-F238E27FC236}">
                <a16:creationId xmlns:a16="http://schemas.microsoft.com/office/drawing/2014/main" id="{75D660B0-A7F0-FADD-F2B9-7E4910224A44}"/>
              </a:ext>
            </a:extLst>
          </p:cNvPr>
          <p:cNvSpPr>
            <a:spLocks noGrp="1"/>
          </p:cNvSpPr>
          <p:nvPr>
            <p:ph type="pic" sz="quarter" idx="65" hasCustomPrompt="1"/>
          </p:nvPr>
        </p:nvSpPr>
        <p:spPr>
          <a:xfrm>
            <a:off x="9270152" y="4176748"/>
            <a:ext cx="407988" cy="407987"/>
          </a:xfrm>
          <a:prstGeom prst="rect">
            <a:avLst/>
          </a:prstGeom>
          <a:solidFill>
            <a:schemeClr val="bg1"/>
          </a:solidFill>
        </p:spPr>
        <p:txBody>
          <a:bodyPr lIns="27432" tIns="0"/>
          <a:lstStyle>
            <a:lvl1pPr>
              <a:defRPr sz="700">
                <a:solidFill>
                  <a:schemeClr val="tx1"/>
                </a:solidFill>
              </a:defRPr>
            </a:lvl1pPr>
          </a:lstStyle>
          <a:p>
            <a:r>
              <a:rPr lang="en-US"/>
              <a:t>Icon</a:t>
            </a:r>
          </a:p>
        </p:txBody>
      </p:sp>
      <p:pic>
        <p:nvPicPr>
          <p:cNvPr id="2" name="Graphic 1">
            <a:extLst>
              <a:ext uri="{FF2B5EF4-FFF2-40B4-BE49-F238E27FC236}">
                <a16:creationId xmlns:a16="http://schemas.microsoft.com/office/drawing/2014/main" id="{E89FCD79-B114-B26E-FE49-DF9CBCEDF68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65113" y="6448421"/>
            <a:ext cx="1580087" cy="146304"/>
          </a:xfrm>
          <a:prstGeom prst="rect">
            <a:avLst/>
          </a:prstGeom>
        </p:spPr>
      </p:pic>
      <p:sp>
        <p:nvSpPr>
          <p:cNvPr id="3" name="Text Placeholder 8">
            <a:extLst>
              <a:ext uri="{FF2B5EF4-FFF2-40B4-BE49-F238E27FC236}">
                <a16:creationId xmlns:a16="http://schemas.microsoft.com/office/drawing/2014/main" id="{AB0ADFC1-AF2A-DFB1-5805-DC13E242D3A1}"/>
              </a:ext>
            </a:extLst>
          </p:cNvPr>
          <p:cNvSpPr>
            <a:spLocks noGrp="1"/>
          </p:cNvSpPr>
          <p:nvPr>
            <p:ph type="body" sz="quarter" idx="66" hasCustomPrompt="1"/>
          </p:nvPr>
        </p:nvSpPr>
        <p:spPr>
          <a:xfrm>
            <a:off x="8126930" y="6466775"/>
            <a:ext cx="3800285" cy="164581"/>
          </a:xfrm>
          <a:prstGeom prst="rect">
            <a:avLst/>
          </a:prstGeom>
        </p:spPr>
        <p:txBody>
          <a:bodyPr lIns="0" tIns="0" rIns="0" bIns="0" anchor="b" anchorCtr="0"/>
          <a:lstStyle>
            <a:lvl1pPr algn="r">
              <a:defRPr sz="1100">
                <a:solidFill>
                  <a:schemeClr val="accent1"/>
                </a:solidFill>
                <a:latin typeface="Arial"/>
              </a:defRPr>
            </a:lvl1pPr>
          </a:lstStyle>
          <a:p>
            <a:pPr lvl="0"/>
            <a:r>
              <a:rPr lang="en-US"/>
              <a:t>Core Program Name</a:t>
            </a:r>
          </a:p>
        </p:txBody>
      </p:sp>
    </p:spTree>
    <p:extLst>
      <p:ext uri="{BB962C8B-B14F-4D97-AF65-F5344CB8AC3E}">
        <p14:creationId xmlns:p14="http://schemas.microsoft.com/office/powerpoint/2010/main" val="3065295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2621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Guidance">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6184B-3FD6-E3A7-BC0B-13C616B1F111}"/>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BFAE6243-6CFF-C466-8891-39933EFB9E7B}"/>
              </a:ext>
            </a:extLst>
          </p:cNvPr>
          <p:cNvSpPr>
            <a:spLocks noGrp="1"/>
          </p:cNvSpPr>
          <p:nvPr>
            <p:ph type="body" sz="quarter" idx="11"/>
          </p:nvPr>
        </p:nvSpPr>
        <p:spPr>
          <a:xfrm>
            <a:off x="288850" y="949325"/>
            <a:ext cx="8148103" cy="52339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214466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768889"/>
      </p:ext>
    </p:extLst>
  </p:cSld>
  <p:clrMap bg1="lt1" tx1="dk1" bg2="lt2" tx2="dk2" accent1="accent1" accent2="accent2" accent3="accent3" accent4="accent4" accent5="accent5" accent6="accent6" hlink="hlink" folHlink="folHlink"/>
  <p:sldLayoutIdLst>
    <p:sldLayoutId id="2147483754" r:id="rId1"/>
    <p:sldLayoutId id="2147483753" r:id="rId2"/>
    <p:sldLayoutId id="2147483755" r:id="rId3"/>
  </p:sldLayoutIdLst>
  <p:hf hdr="0" ftr="0" dt="0"/>
  <p:txStyles>
    <p:titleStyle>
      <a:lvl1pPr algn="l" defTabSz="423547" rtl="0" eaLnBrk="1" latinLnBrk="0" hangingPunct="1">
        <a:lnSpc>
          <a:spcPct val="85000"/>
        </a:lnSpc>
        <a:spcBef>
          <a:spcPts val="278"/>
        </a:spcBef>
        <a:spcAft>
          <a:spcPts val="278"/>
        </a:spcAft>
        <a:buNone/>
        <a:defRPr sz="1621" b="0" i="0" kern="1200" spc="0" baseline="0">
          <a:solidFill>
            <a:schemeClr val="accent1"/>
          </a:solidFill>
          <a:latin typeface="Arial"/>
          <a:ea typeface="Arial"/>
          <a:cs typeface="Arial"/>
        </a:defRPr>
      </a:lvl1pPr>
    </p:titleStyle>
    <p:bodyStyle>
      <a:lvl1pPr marL="0" indent="0" algn="l" defTabSz="423547" rtl="0" eaLnBrk="1" latinLnBrk="0" hangingPunct="1">
        <a:lnSpc>
          <a:spcPct val="110000"/>
        </a:lnSpc>
        <a:spcBef>
          <a:spcPts val="278"/>
        </a:spcBef>
        <a:spcAft>
          <a:spcPts val="278"/>
        </a:spcAft>
        <a:buFont typeface="Arial" panose="020B0604020202020204" pitchFamily="34" charset="0"/>
        <a:buNone/>
        <a:tabLst/>
        <a:defRPr sz="834" b="0" i="0" kern="1200">
          <a:solidFill>
            <a:schemeClr val="tx1"/>
          </a:solidFill>
          <a:latin typeface="Arial"/>
          <a:ea typeface="Arial"/>
          <a:cs typeface="Arial"/>
        </a:defRPr>
      </a:lvl1pPr>
      <a:lvl2pPr marL="132358" indent="-132358" algn="l" defTabSz="423547" rtl="0" eaLnBrk="1" latinLnBrk="0" hangingPunct="1">
        <a:lnSpc>
          <a:spcPct val="110000"/>
        </a:lnSpc>
        <a:spcBef>
          <a:spcPts val="0"/>
        </a:spcBef>
        <a:spcAft>
          <a:spcPts val="278"/>
        </a:spcAft>
        <a:buFont typeface="Arial" panose="020B0604020202020204" pitchFamily="34" charset="0"/>
        <a:buChar char="•"/>
        <a:tabLst/>
        <a:defRPr sz="834" b="0" i="0" kern="1200">
          <a:solidFill>
            <a:schemeClr val="tx1"/>
          </a:solidFill>
          <a:latin typeface="Arial"/>
          <a:ea typeface="Arial"/>
          <a:cs typeface="Arial"/>
        </a:defRPr>
      </a:lvl2pPr>
      <a:lvl3pPr marL="264717" indent="-132358" algn="l" defTabSz="423547" rtl="0" eaLnBrk="1" latinLnBrk="0" hangingPunct="1">
        <a:lnSpc>
          <a:spcPct val="110000"/>
        </a:lnSpc>
        <a:spcBef>
          <a:spcPts val="0"/>
        </a:spcBef>
        <a:spcAft>
          <a:spcPts val="278"/>
        </a:spcAft>
        <a:buFont typeface="Arial" panose="020B0604020202020204" pitchFamily="34" charset="0"/>
        <a:buChar char="•"/>
        <a:tabLst/>
        <a:defRPr sz="741" b="0" i="0" kern="1200">
          <a:solidFill>
            <a:schemeClr val="tx1"/>
          </a:solidFill>
          <a:latin typeface="Arial"/>
          <a:ea typeface="Arial"/>
          <a:cs typeface="Arial"/>
        </a:defRPr>
      </a:lvl3pPr>
      <a:lvl4pPr marL="396866" indent="-132358" algn="l" defTabSz="423547" rtl="0" eaLnBrk="1" latinLnBrk="0" hangingPunct="1">
        <a:lnSpc>
          <a:spcPct val="110000"/>
        </a:lnSpc>
        <a:spcBef>
          <a:spcPts val="0"/>
        </a:spcBef>
        <a:spcAft>
          <a:spcPts val="278"/>
        </a:spcAft>
        <a:buFont typeface="Arial" panose="020B0604020202020204" pitchFamily="34" charset="0"/>
        <a:buChar char="•"/>
        <a:tabLst/>
        <a:defRPr sz="741" b="0" i="0" kern="1200">
          <a:solidFill>
            <a:schemeClr val="tx1"/>
          </a:solidFill>
          <a:latin typeface="Arial"/>
          <a:ea typeface="Arial"/>
          <a:cs typeface="Arial"/>
        </a:defRPr>
      </a:lvl4pPr>
      <a:lvl5pPr marL="0" indent="0" algn="l" defTabSz="423547" rtl="0" eaLnBrk="1" latinLnBrk="0" hangingPunct="1">
        <a:lnSpc>
          <a:spcPct val="110000"/>
        </a:lnSpc>
        <a:spcBef>
          <a:spcPts val="278"/>
        </a:spcBef>
        <a:spcAft>
          <a:spcPts val="278"/>
        </a:spcAft>
        <a:buFont typeface="Arial" panose="020B0604020202020204" pitchFamily="34" charset="0"/>
        <a:buNone/>
        <a:tabLst/>
        <a:defRPr sz="371" b="0" i="0" kern="1200">
          <a:solidFill>
            <a:schemeClr val="tx1"/>
          </a:solidFill>
          <a:latin typeface="Arial"/>
          <a:ea typeface="Arial"/>
          <a:cs typeface="Arial"/>
        </a:defRPr>
      </a:lvl5pPr>
      <a:lvl6pPr marL="0" indent="0" algn="l" defTabSz="423547" rtl="0" eaLnBrk="1" latinLnBrk="0" hangingPunct="1">
        <a:lnSpc>
          <a:spcPct val="90000"/>
        </a:lnSpc>
        <a:spcBef>
          <a:spcPts val="278"/>
        </a:spcBef>
        <a:spcAft>
          <a:spcPts val="278"/>
        </a:spcAft>
        <a:buFont typeface="Arial" panose="020B0604020202020204" pitchFamily="34" charset="0"/>
        <a:buNone/>
        <a:defRPr lang="en-GB" sz="834" b="0" i="0" kern="1200" dirty="0" smtClean="0">
          <a:solidFill>
            <a:schemeClr val="tx1"/>
          </a:solidFill>
          <a:latin typeface="Arial"/>
          <a:ea typeface="Arial"/>
          <a:cs typeface="Arial"/>
        </a:defRPr>
      </a:lvl6pPr>
      <a:lvl7pPr marL="0" indent="0" algn="l" defTabSz="423547" rtl="0" eaLnBrk="1" latinLnBrk="0" hangingPunct="1">
        <a:lnSpc>
          <a:spcPct val="90000"/>
        </a:lnSpc>
        <a:spcBef>
          <a:spcPts val="278"/>
        </a:spcBef>
        <a:spcAft>
          <a:spcPts val="278"/>
        </a:spcAft>
        <a:buFont typeface="Arial" panose="020B0604020202020204" pitchFamily="34" charset="0"/>
        <a:buNone/>
        <a:defRPr lang="en-GB" sz="834" b="0" i="0" kern="1200" dirty="0" smtClean="0">
          <a:solidFill>
            <a:schemeClr val="tx1"/>
          </a:solidFill>
          <a:latin typeface="Arial"/>
          <a:ea typeface="Arial"/>
          <a:cs typeface="Arial"/>
        </a:defRPr>
      </a:lvl7pPr>
      <a:lvl8pPr marL="0" indent="0" algn="l" defTabSz="423547" rtl="0" eaLnBrk="1" latinLnBrk="0" hangingPunct="1">
        <a:lnSpc>
          <a:spcPct val="90000"/>
        </a:lnSpc>
        <a:spcBef>
          <a:spcPts val="278"/>
        </a:spcBef>
        <a:spcAft>
          <a:spcPts val="278"/>
        </a:spcAft>
        <a:buFont typeface="Arial" panose="020B0604020202020204" pitchFamily="34" charset="0"/>
        <a:buNone/>
        <a:defRPr lang="en-GB" sz="834" b="0" i="0" kern="1200" dirty="0">
          <a:solidFill>
            <a:schemeClr val="tx1"/>
          </a:solidFill>
          <a:latin typeface="Arial"/>
          <a:ea typeface="Arial"/>
          <a:cs typeface="Arial"/>
        </a:defRPr>
      </a:lvl8pPr>
      <a:lvl9pPr marL="0" indent="0" algn="l" defTabSz="423547" rtl="0" eaLnBrk="1" latinLnBrk="0" hangingPunct="1">
        <a:lnSpc>
          <a:spcPct val="90000"/>
        </a:lnSpc>
        <a:spcBef>
          <a:spcPts val="278"/>
        </a:spcBef>
        <a:spcAft>
          <a:spcPts val="278"/>
        </a:spcAft>
        <a:buFont typeface="Arial" panose="020B0604020202020204" pitchFamily="34" charset="0"/>
        <a:buNone/>
        <a:defRPr sz="834" b="0" i="0" kern="1200">
          <a:solidFill>
            <a:schemeClr val="tx1"/>
          </a:solidFill>
          <a:latin typeface="Arial"/>
          <a:ea typeface="Arial"/>
          <a:cs typeface="Arial"/>
        </a:defRPr>
      </a:lvl9pPr>
    </p:bodyStyle>
    <p:otherStyle>
      <a:defPPr>
        <a:defRPr lang="en-US"/>
      </a:defPPr>
      <a:lvl1pPr marL="0" algn="l" defTabSz="423547" rtl="0" eaLnBrk="1" latinLnBrk="0" hangingPunct="1">
        <a:defRPr sz="834" kern="1200">
          <a:solidFill>
            <a:schemeClr val="tx1"/>
          </a:solidFill>
          <a:latin typeface="Arial"/>
          <a:ea typeface="Arial"/>
          <a:cs typeface="Arial"/>
        </a:defRPr>
      </a:lvl1pPr>
      <a:lvl2pPr marL="211773" algn="l" defTabSz="423547" rtl="0" eaLnBrk="1" latinLnBrk="0" hangingPunct="1">
        <a:defRPr sz="834" kern="1200">
          <a:solidFill>
            <a:schemeClr val="tx1"/>
          </a:solidFill>
          <a:latin typeface="Arial"/>
          <a:ea typeface="Arial"/>
          <a:cs typeface="Arial"/>
        </a:defRPr>
      </a:lvl2pPr>
      <a:lvl3pPr marL="423547" algn="l" defTabSz="423547" rtl="0" eaLnBrk="1" latinLnBrk="0" hangingPunct="1">
        <a:defRPr sz="834" kern="1200">
          <a:solidFill>
            <a:schemeClr val="tx1"/>
          </a:solidFill>
          <a:latin typeface="Arial"/>
          <a:ea typeface="Arial"/>
          <a:cs typeface="Arial"/>
        </a:defRPr>
      </a:lvl3pPr>
      <a:lvl4pPr marL="635320" algn="l" defTabSz="423547" rtl="0" eaLnBrk="1" latinLnBrk="0" hangingPunct="1">
        <a:defRPr sz="834" kern="1200">
          <a:solidFill>
            <a:schemeClr val="tx1"/>
          </a:solidFill>
          <a:latin typeface="Arial"/>
          <a:ea typeface="Arial"/>
          <a:cs typeface="Arial"/>
        </a:defRPr>
      </a:lvl4pPr>
      <a:lvl5pPr marL="847093" algn="l" defTabSz="423547" rtl="0" eaLnBrk="1" latinLnBrk="0" hangingPunct="1">
        <a:defRPr sz="834" kern="1200">
          <a:solidFill>
            <a:schemeClr val="tx1"/>
          </a:solidFill>
          <a:latin typeface="Arial"/>
          <a:ea typeface="Arial"/>
          <a:cs typeface="Arial"/>
        </a:defRPr>
      </a:lvl5pPr>
      <a:lvl6pPr marL="1058866" algn="l" defTabSz="423547" rtl="0" eaLnBrk="1" latinLnBrk="0" hangingPunct="1">
        <a:defRPr sz="834" kern="1200">
          <a:solidFill>
            <a:schemeClr val="tx1"/>
          </a:solidFill>
          <a:latin typeface="Arial"/>
          <a:ea typeface="Arial"/>
          <a:cs typeface="Arial"/>
        </a:defRPr>
      </a:lvl6pPr>
      <a:lvl7pPr marL="1270639" algn="l" defTabSz="423547" rtl="0" eaLnBrk="1" latinLnBrk="0" hangingPunct="1">
        <a:defRPr sz="834" kern="1200">
          <a:solidFill>
            <a:schemeClr val="tx1"/>
          </a:solidFill>
          <a:latin typeface="Arial"/>
          <a:ea typeface="Arial"/>
          <a:cs typeface="Arial"/>
        </a:defRPr>
      </a:lvl7pPr>
      <a:lvl8pPr marL="1482413" algn="l" defTabSz="423547" rtl="0" eaLnBrk="1" latinLnBrk="0" hangingPunct="1">
        <a:defRPr sz="834" kern="1200">
          <a:solidFill>
            <a:schemeClr val="tx1"/>
          </a:solidFill>
          <a:latin typeface="Arial"/>
          <a:ea typeface="Arial"/>
          <a:cs typeface="Arial"/>
        </a:defRPr>
      </a:lvl8pPr>
      <a:lvl9pPr marL="1694186" algn="l" defTabSz="423547" rtl="0" eaLnBrk="1" latinLnBrk="0" hangingPunct="1">
        <a:defRPr sz="834" kern="1200">
          <a:solidFill>
            <a:schemeClr val="tx1"/>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1700"/>
        </a:solidFill>
        <a:effectLst/>
      </p:bgPr>
    </p:bg>
    <p:spTree>
      <p:nvGrpSpPr>
        <p:cNvPr id="1" name=""/>
        <p:cNvGrpSpPr/>
        <p:nvPr/>
      </p:nvGrpSpPr>
      <p:grpSpPr>
        <a:xfrm>
          <a:off x="0" y="0"/>
          <a:ext cx="0" cy="0"/>
          <a:chOff x="0" y="0"/>
          <a:chExt cx="0" cy="0"/>
        </a:xfrm>
      </p:grpSpPr>
      <p:sp>
        <p:nvSpPr>
          <p:cNvPr id="11" name="Rect 11"/>
          <p:cNvSpPr/>
          <p:nvPr/>
        </p:nvSpPr>
        <p:spPr>
          <a:xfrm>
            <a:off x="0" y="0"/>
            <a:ext cx="12184380" cy="6858000"/>
          </a:xfrm>
          <a:prstGeom prst="rect">
            <a:avLst/>
          </a:prstGeom>
          <a:solidFill>
            <a:srgbClr val="EB1700"/>
          </a:solidFill>
          <a:ln>
            <a:noFill/>
          </a:ln>
        </p:spPr>
        <p:txBody>
          <a:bodyPr/>
          <a:lstStyle/>
          <a:p>
            <a:endParaRPr lang="en-US"/>
          </a:p>
        </p:txBody>
      </p:sp>
      <p:sp>
        <p:nvSpPr>
          <p:cNvPr id="12" name="Rect 12"/>
          <p:cNvSpPr/>
          <p:nvPr/>
        </p:nvSpPr>
        <p:spPr>
          <a:xfrm>
            <a:off x="914400" y="1417320"/>
            <a:ext cx="822960" cy="64008"/>
          </a:xfrm>
          <a:prstGeom prst="rect">
            <a:avLst/>
          </a:prstGeom>
          <a:solidFill>
            <a:srgbClr val="FFFFFF"/>
          </a:solidFill>
          <a:ln>
            <a:noFill/>
          </a:ln>
        </p:spPr>
        <p:txBody>
          <a:bodyPr/>
          <a:lstStyle/>
          <a:p>
            <a:endParaRPr lang="en-US"/>
          </a:p>
        </p:txBody>
      </p:sp>
      <p:sp>
        <p:nvSpPr>
          <p:cNvPr id="13" name="Text 13"/>
          <p:cNvSpPr txBox="1"/>
          <p:nvPr/>
        </p:nvSpPr>
        <p:spPr>
          <a:xfrm>
            <a:off x="914400" y="1828800"/>
            <a:ext cx="9692640" cy="1737360"/>
          </a:xfrm>
          <a:prstGeom prst="rect">
            <a:avLst/>
          </a:prstGeom>
          <a:noFill/>
        </p:spPr>
        <p:txBody>
          <a:bodyPr wrap="square" lIns="0" tIns="0" rIns="0" bIns="0" anchor="t">
            <a:normAutofit/>
          </a:bodyPr>
          <a:lstStyle/>
          <a:p>
            <a:pPr algn="l">
              <a:lnSpc>
                <a:spcPct val="102000"/>
              </a:lnSpc>
              <a:buNone/>
            </a:pPr>
            <a:r>
              <a:rPr lang="en-US" sz="4400" b="1">
                <a:solidFill>
                  <a:srgbClr val="FFFFFF"/>
                </a:solidFill>
                <a:latin typeface="Arial"/>
                <a:cs typeface="Arial"/>
              </a:rPr>
              <a:t>Supply Chain Issue</a:t>
            </a:r>
          </a:p>
          <a:p>
            <a:pPr algn="l">
              <a:lnSpc>
                <a:spcPct val="102000"/>
              </a:lnSpc>
              <a:buNone/>
            </a:pPr>
            <a:r>
              <a:rPr lang="en-US" sz="4400" b="1">
                <a:solidFill>
                  <a:srgbClr val="FFFFFF"/>
                </a:solidFill>
                <a:latin typeface="Arial"/>
                <a:cs typeface="Arial"/>
              </a:rPr>
              <a:t>Compliance Report</a:t>
            </a:r>
          </a:p>
        </p:txBody>
      </p:sp>
      <p:sp>
        <p:nvSpPr>
          <p:cNvPr id="14" name="Text 14"/>
          <p:cNvSpPr txBox="1"/>
          <p:nvPr/>
        </p:nvSpPr>
        <p:spPr>
          <a:xfrm>
            <a:off x="914400" y="3794760"/>
            <a:ext cx="8778240" cy="822960"/>
          </a:xfrm>
          <a:prstGeom prst="rect">
            <a:avLst/>
          </a:prstGeom>
          <a:noFill/>
        </p:spPr>
        <p:txBody>
          <a:bodyPr wrap="square" lIns="0" tIns="0" rIns="0" bIns="0" anchor="t">
            <a:normAutofit/>
          </a:bodyPr>
          <a:lstStyle/>
          <a:p>
            <a:pPr algn="l">
              <a:lnSpc>
                <a:spcPct val="128000"/>
              </a:lnSpc>
              <a:buNone/>
            </a:pPr>
            <a:r>
              <a:rPr lang="en-US" sz="1500" b="0">
                <a:solidFill>
                  <a:srgbClr val="FFFFFF"/>
                </a:solidFill>
                <a:latin typeface="Arial"/>
                <a:cs typeface="Arial"/>
              </a:rPr>
              <a:t>Delivery risk, supplier performance, and compliance exposure</a:t>
            </a:r>
          </a:p>
          <a:p>
            <a:pPr algn="l">
              <a:lnSpc>
                <a:spcPct val="128000"/>
              </a:lnSpc>
              <a:buNone/>
            </a:pPr>
            <a:r>
              <a:rPr lang="en-US" sz="1500" b="0">
                <a:solidFill>
                  <a:srgbClr val="FFFFFF"/>
                </a:solidFill>
                <a:latin typeface="Arial"/>
                <a:cs typeface="Arial"/>
              </a:rPr>
              <a:t>across 50 component-supplier records</a:t>
            </a:r>
          </a:p>
        </p:txBody>
      </p:sp>
      <p:sp>
        <p:nvSpPr>
          <p:cNvPr id="15" name="Rect 15"/>
          <p:cNvSpPr/>
          <p:nvPr/>
        </p:nvSpPr>
        <p:spPr>
          <a:xfrm>
            <a:off x="914400" y="4892040"/>
            <a:ext cx="3840480" cy="10973"/>
          </a:xfrm>
          <a:prstGeom prst="rect">
            <a:avLst/>
          </a:prstGeom>
          <a:solidFill>
            <a:srgbClr val="FFFFFF"/>
          </a:solidFill>
          <a:ln>
            <a:noFill/>
          </a:ln>
        </p:spPr>
        <p:txBody>
          <a:bodyPr/>
          <a:lstStyle/>
          <a:p>
            <a:endParaRPr lang="en-US"/>
          </a:p>
        </p:txBody>
      </p:sp>
      <p:sp>
        <p:nvSpPr>
          <p:cNvPr id="16" name="Text 16"/>
          <p:cNvSpPr txBox="1"/>
          <p:nvPr/>
        </p:nvSpPr>
        <p:spPr>
          <a:xfrm>
            <a:off x="914400" y="5120640"/>
            <a:ext cx="8229600" cy="731520"/>
          </a:xfrm>
          <a:prstGeom prst="rect">
            <a:avLst/>
          </a:prstGeom>
          <a:noFill/>
        </p:spPr>
        <p:txBody>
          <a:bodyPr wrap="square" lIns="0" tIns="0" rIns="0" bIns="0" anchor="t">
            <a:normAutofit/>
          </a:bodyPr>
          <a:lstStyle/>
          <a:p>
            <a:pPr algn="l">
              <a:lnSpc>
                <a:spcPct val="130000"/>
              </a:lnSpc>
              <a:buNone/>
            </a:pPr>
            <a:r>
              <a:rPr lang="en-US" sz="1050" b="0">
                <a:solidFill>
                  <a:srgbClr val="FFFFFF"/>
                </a:solidFill>
                <a:latin typeface="Arial"/>
                <a:cs typeface="Arial"/>
              </a:rPr>
              <a:t>Source: Supply Chain Issue Analysis Report and Supply Chain Report (Analysis tab)</a:t>
            </a:r>
          </a:p>
          <a:p>
            <a:pPr algn="l">
              <a:lnSpc>
                <a:spcPct val="130000"/>
              </a:lnSpc>
              <a:buNone/>
            </a:pPr>
            <a:r>
              <a:rPr lang="en-US" sz="1050" b="0">
                <a:solidFill>
                  <a:srgbClr val="FFFFFF"/>
                </a:solidFill>
                <a:latin typeface="Arial"/>
                <a:cs typeface="Arial"/>
              </a:rPr>
              <a:t>Prepared for supply chain compliance review</a:t>
            </a:r>
          </a:p>
        </p:txBody>
      </p:sp>
      <p:pic>
        <p:nvPicPr>
          <p:cNvPr id="17" name="Logo">
            <a:extLst>
              <a:ext uri="{FF2B5EF4-FFF2-40B4-BE49-F238E27FC236}">
                <a16:creationId xmlns:a16="http://schemas.microsoft.com/office/drawing/2014/main" id="{D95C6A07-4C88-4D20-AEC2-FB519AB459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113" y="6448421"/>
            <a:ext cx="1580087" cy="146304"/>
          </a:xfrm>
          <a:prstGeom prst="rect">
            <a:avLst/>
          </a:prstGeom>
        </p:spPr>
      </p:pic>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 18"/>
          <p:cNvSpPr/>
          <p:nvPr/>
        </p:nvSpPr>
        <p:spPr>
          <a:xfrm>
            <a:off x="914400" y="566928"/>
            <a:ext cx="566928" cy="50292"/>
          </a:xfrm>
          <a:prstGeom prst="rect">
            <a:avLst/>
          </a:prstGeom>
          <a:solidFill>
            <a:srgbClr val="EB1700"/>
          </a:solidFill>
          <a:ln>
            <a:noFill/>
          </a:ln>
        </p:spPr>
        <p:txBody>
          <a:bodyPr/>
          <a:lstStyle/>
          <a:p>
            <a:endParaRPr lang="en-US"/>
          </a:p>
        </p:txBody>
      </p:sp>
      <p:sp>
        <p:nvSpPr>
          <p:cNvPr id="19" name="Text 19"/>
          <p:cNvSpPr txBox="1"/>
          <p:nvPr/>
        </p:nvSpPr>
        <p:spPr>
          <a:xfrm>
            <a:off x="914400" y="749808"/>
            <a:ext cx="9601200" cy="274320"/>
          </a:xfrm>
          <a:prstGeom prst="rect">
            <a:avLst/>
          </a:prstGeom>
          <a:noFill/>
        </p:spPr>
        <p:txBody>
          <a:bodyPr wrap="square" lIns="0" tIns="0" rIns="0" bIns="0" anchor="t">
            <a:normAutofit/>
          </a:bodyPr>
          <a:lstStyle/>
          <a:p>
            <a:pPr algn="l">
              <a:lnSpc>
                <a:spcPct val="100000"/>
              </a:lnSpc>
              <a:buNone/>
            </a:pPr>
            <a:r>
              <a:rPr lang="en-US" sz="1050" b="0">
                <a:solidFill>
                  <a:srgbClr val="6E6259"/>
                </a:solidFill>
                <a:latin typeface="Arial"/>
                <a:cs typeface="Arial"/>
              </a:rPr>
              <a:t>01  |  Executive summary</a:t>
            </a:r>
          </a:p>
        </p:txBody>
      </p:sp>
      <p:sp>
        <p:nvSpPr>
          <p:cNvPr id="20" name="Text 20"/>
          <p:cNvSpPr txBox="1"/>
          <p:nvPr/>
        </p:nvSpPr>
        <p:spPr>
          <a:xfrm>
            <a:off x="914400" y="1078992"/>
            <a:ext cx="10332720" cy="685800"/>
          </a:xfrm>
          <a:prstGeom prst="rect">
            <a:avLst/>
          </a:prstGeom>
          <a:noFill/>
        </p:spPr>
        <p:txBody>
          <a:bodyPr wrap="square" lIns="0" tIns="0" rIns="0" bIns="0" anchor="t">
            <a:normAutofit/>
          </a:bodyPr>
          <a:lstStyle/>
          <a:p>
            <a:pPr algn="l">
              <a:lnSpc>
                <a:spcPct val="100000"/>
              </a:lnSpc>
              <a:buNone/>
            </a:pPr>
            <a:r>
              <a:rPr lang="en-US" sz="2800" b="1">
                <a:solidFill>
                  <a:srgbClr val="EB1700"/>
                </a:solidFill>
                <a:latin typeface="Arial"/>
                <a:cs typeface="Arial"/>
              </a:rPr>
              <a:t>Summary of Key Issues</a:t>
            </a:r>
          </a:p>
        </p:txBody>
      </p:sp>
      <p:sp>
        <p:nvSpPr>
          <p:cNvPr id="21" name="Rect 21"/>
          <p:cNvSpPr/>
          <p:nvPr/>
        </p:nvSpPr>
        <p:spPr>
          <a:xfrm>
            <a:off x="914400" y="1847088"/>
            <a:ext cx="10355580" cy="10973"/>
          </a:xfrm>
          <a:prstGeom prst="rect">
            <a:avLst/>
          </a:prstGeom>
          <a:solidFill>
            <a:srgbClr val="D5CFC9"/>
          </a:solidFill>
          <a:ln>
            <a:noFill/>
          </a:ln>
        </p:spPr>
        <p:txBody>
          <a:bodyPr/>
          <a:lstStyle/>
          <a:p>
            <a:endParaRPr lang="en-US"/>
          </a:p>
        </p:txBody>
      </p:sp>
      <p:sp>
        <p:nvSpPr>
          <p:cNvPr id="22" name="Rect 22"/>
          <p:cNvSpPr/>
          <p:nvPr/>
        </p:nvSpPr>
        <p:spPr>
          <a:xfrm>
            <a:off x="914400" y="2240280"/>
            <a:ext cx="3268980" cy="2148840"/>
          </a:xfrm>
          <a:prstGeom prst="rect">
            <a:avLst/>
          </a:prstGeom>
          <a:solidFill>
            <a:srgbClr val="F1EFED"/>
          </a:solidFill>
          <a:ln>
            <a:noFill/>
          </a:ln>
        </p:spPr>
        <p:txBody>
          <a:bodyPr/>
          <a:lstStyle/>
          <a:p>
            <a:endParaRPr lang="en-US"/>
          </a:p>
        </p:txBody>
      </p:sp>
      <p:sp>
        <p:nvSpPr>
          <p:cNvPr id="23" name="Rect 23"/>
          <p:cNvSpPr/>
          <p:nvPr/>
        </p:nvSpPr>
        <p:spPr>
          <a:xfrm>
            <a:off x="914400" y="2240280"/>
            <a:ext cx="3268980" cy="50292"/>
          </a:xfrm>
          <a:prstGeom prst="rect">
            <a:avLst/>
          </a:prstGeom>
          <a:solidFill>
            <a:srgbClr val="EB1700"/>
          </a:solidFill>
          <a:ln>
            <a:noFill/>
          </a:ln>
        </p:spPr>
        <p:txBody>
          <a:bodyPr/>
          <a:lstStyle/>
          <a:p>
            <a:endParaRPr lang="en-US"/>
          </a:p>
        </p:txBody>
      </p:sp>
      <p:sp>
        <p:nvSpPr>
          <p:cNvPr id="24" name="Text 24"/>
          <p:cNvSpPr txBox="1"/>
          <p:nvPr/>
        </p:nvSpPr>
        <p:spPr>
          <a:xfrm>
            <a:off x="1207008" y="2542032"/>
            <a:ext cx="2720340" cy="502920"/>
          </a:xfrm>
          <a:prstGeom prst="rect">
            <a:avLst/>
          </a:prstGeom>
          <a:noFill/>
        </p:spPr>
        <p:txBody>
          <a:bodyPr wrap="square" lIns="0" tIns="0" rIns="0" bIns="0" anchor="t">
            <a:normAutofit/>
          </a:bodyPr>
          <a:lstStyle/>
          <a:p>
            <a:pPr algn="l">
              <a:lnSpc>
                <a:spcPct val="100000"/>
              </a:lnSpc>
              <a:buNone/>
            </a:pPr>
            <a:r>
              <a:rPr lang="en-US" sz="3000" b="1">
                <a:solidFill>
                  <a:srgbClr val="EB1700"/>
                </a:solidFill>
                <a:latin typeface="Arial"/>
                <a:cs typeface="Arial"/>
              </a:rPr>
              <a:t>48%</a:t>
            </a:r>
          </a:p>
        </p:txBody>
      </p:sp>
      <p:sp>
        <p:nvSpPr>
          <p:cNvPr id="25" name="Text 25"/>
          <p:cNvSpPr txBox="1"/>
          <p:nvPr/>
        </p:nvSpPr>
        <p:spPr>
          <a:xfrm>
            <a:off x="1207008" y="3072384"/>
            <a:ext cx="2720340" cy="457200"/>
          </a:xfrm>
          <a:prstGeom prst="rect">
            <a:avLst/>
          </a:prstGeom>
          <a:noFill/>
        </p:spPr>
        <p:txBody>
          <a:bodyPr wrap="square" lIns="0" tIns="0" rIns="0" bIns="0" anchor="t">
            <a:normAutofit/>
          </a:bodyPr>
          <a:lstStyle/>
          <a:p>
            <a:pPr algn="l">
              <a:lnSpc>
                <a:spcPct val="120000"/>
              </a:lnSpc>
              <a:buNone/>
            </a:pPr>
            <a:r>
              <a:rPr lang="en-US" sz="1150" b="1">
                <a:solidFill>
                  <a:srgbClr val="312C2A"/>
                </a:solidFill>
                <a:latin typeface="Arial"/>
                <a:cs typeface="Arial"/>
              </a:rPr>
              <a:t>of records are medium risk</a:t>
            </a:r>
          </a:p>
        </p:txBody>
      </p:sp>
      <p:sp>
        <p:nvSpPr>
          <p:cNvPr id="26" name="Text 26"/>
          <p:cNvSpPr txBox="1"/>
          <p:nvPr/>
        </p:nvSpPr>
        <p:spPr>
          <a:xfrm>
            <a:off x="1207008" y="3584448"/>
            <a:ext cx="2720340" cy="685800"/>
          </a:xfrm>
          <a:prstGeom prst="rect">
            <a:avLst/>
          </a:prstGeom>
          <a:noFill/>
        </p:spPr>
        <p:txBody>
          <a:bodyPr wrap="square" lIns="0" tIns="0" rIns="0" bIns="0" anchor="t">
            <a:normAutofit/>
          </a:bodyPr>
          <a:lstStyle/>
          <a:p>
            <a:pPr algn="l">
              <a:lnSpc>
                <a:spcPct val="128000"/>
              </a:lnSpc>
              <a:buNone/>
            </a:pPr>
            <a:r>
              <a:rPr lang="en-US" sz="1000" b="0">
                <a:solidFill>
                  <a:srgbClr val="6E6259"/>
                </a:solidFill>
                <a:latin typeface="Arial"/>
                <a:cs typeface="Arial"/>
              </a:rPr>
              <a:t>Medium-risk items are the largest share of the dataset and carry the longest average delivery timeline at 15.1 days.</a:t>
            </a:r>
          </a:p>
        </p:txBody>
      </p:sp>
      <p:sp>
        <p:nvSpPr>
          <p:cNvPr id="27" name="Rect 27"/>
          <p:cNvSpPr/>
          <p:nvPr/>
        </p:nvSpPr>
        <p:spPr>
          <a:xfrm>
            <a:off x="4457700" y="2240280"/>
            <a:ext cx="3268980" cy="2148840"/>
          </a:xfrm>
          <a:prstGeom prst="rect">
            <a:avLst/>
          </a:prstGeom>
          <a:solidFill>
            <a:srgbClr val="F1EFED"/>
          </a:solidFill>
          <a:ln>
            <a:noFill/>
          </a:ln>
        </p:spPr>
        <p:txBody>
          <a:bodyPr/>
          <a:lstStyle/>
          <a:p>
            <a:endParaRPr lang="en-US"/>
          </a:p>
        </p:txBody>
      </p:sp>
      <p:sp>
        <p:nvSpPr>
          <p:cNvPr id="28" name="Rect 28"/>
          <p:cNvSpPr/>
          <p:nvPr/>
        </p:nvSpPr>
        <p:spPr>
          <a:xfrm>
            <a:off x="4457700" y="2240280"/>
            <a:ext cx="3268980" cy="50292"/>
          </a:xfrm>
          <a:prstGeom prst="rect">
            <a:avLst/>
          </a:prstGeom>
          <a:solidFill>
            <a:srgbClr val="EB1700"/>
          </a:solidFill>
          <a:ln>
            <a:noFill/>
          </a:ln>
        </p:spPr>
        <p:txBody>
          <a:bodyPr/>
          <a:lstStyle/>
          <a:p>
            <a:endParaRPr lang="en-US"/>
          </a:p>
        </p:txBody>
      </p:sp>
      <p:sp>
        <p:nvSpPr>
          <p:cNvPr id="29" name="Text 29"/>
          <p:cNvSpPr txBox="1"/>
          <p:nvPr/>
        </p:nvSpPr>
        <p:spPr>
          <a:xfrm>
            <a:off x="4750308" y="2542032"/>
            <a:ext cx="2720340" cy="502920"/>
          </a:xfrm>
          <a:prstGeom prst="rect">
            <a:avLst/>
          </a:prstGeom>
          <a:noFill/>
        </p:spPr>
        <p:txBody>
          <a:bodyPr wrap="square" lIns="0" tIns="0" rIns="0" bIns="0" anchor="t">
            <a:normAutofit/>
          </a:bodyPr>
          <a:lstStyle/>
          <a:p>
            <a:pPr algn="l">
              <a:lnSpc>
                <a:spcPct val="100000"/>
              </a:lnSpc>
              <a:buNone/>
            </a:pPr>
            <a:r>
              <a:rPr lang="en-US" sz="3000" b="1">
                <a:solidFill>
                  <a:srgbClr val="EB1700"/>
                </a:solidFill>
                <a:latin typeface="Arial"/>
                <a:cs typeface="Arial"/>
              </a:rPr>
              <a:t>84.2%</a:t>
            </a:r>
          </a:p>
        </p:txBody>
      </p:sp>
      <p:sp>
        <p:nvSpPr>
          <p:cNvPr id="30" name="Text 30"/>
          <p:cNvSpPr txBox="1"/>
          <p:nvPr/>
        </p:nvSpPr>
        <p:spPr>
          <a:xfrm>
            <a:off x="4750308" y="3072384"/>
            <a:ext cx="2720340" cy="457200"/>
          </a:xfrm>
          <a:prstGeom prst="rect">
            <a:avLst/>
          </a:prstGeom>
          <a:noFill/>
        </p:spPr>
        <p:txBody>
          <a:bodyPr wrap="square" lIns="0" tIns="0" rIns="0" bIns="0" anchor="t">
            <a:normAutofit/>
          </a:bodyPr>
          <a:lstStyle/>
          <a:p>
            <a:pPr algn="l">
              <a:lnSpc>
                <a:spcPct val="120000"/>
              </a:lnSpc>
              <a:buNone/>
            </a:pPr>
            <a:r>
              <a:rPr lang="en-US" sz="1150" b="1">
                <a:solidFill>
                  <a:srgbClr val="312C2A"/>
                </a:solidFill>
                <a:latin typeface="Arial"/>
                <a:cs typeface="Arial"/>
              </a:rPr>
              <a:t>on-time delivery for COAT890</a:t>
            </a:r>
          </a:p>
        </p:txBody>
      </p:sp>
      <p:sp>
        <p:nvSpPr>
          <p:cNvPr id="31" name="Text 31"/>
          <p:cNvSpPr txBox="1"/>
          <p:nvPr/>
        </p:nvSpPr>
        <p:spPr>
          <a:xfrm>
            <a:off x="4750308" y="3584448"/>
            <a:ext cx="2720340" cy="685800"/>
          </a:xfrm>
          <a:prstGeom prst="rect">
            <a:avLst/>
          </a:prstGeom>
          <a:noFill/>
        </p:spPr>
        <p:txBody>
          <a:bodyPr wrap="square" lIns="0" tIns="0" rIns="0" bIns="0" anchor="t">
            <a:normAutofit/>
          </a:bodyPr>
          <a:lstStyle/>
          <a:p>
            <a:pPr algn="l">
              <a:lnSpc>
                <a:spcPct val="128000"/>
              </a:lnSpc>
              <a:buNone/>
            </a:pPr>
            <a:r>
              <a:rPr lang="en-US" sz="1000" b="0">
                <a:solidFill>
                  <a:srgbClr val="6E6259"/>
                </a:solidFill>
                <a:latin typeface="Arial"/>
                <a:cs typeface="Arial"/>
              </a:rPr>
              <a:t>The weakest performer among delayed components, with five delayed records signalling recurring execution issues.</a:t>
            </a:r>
          </a:p>
        </p:txBody>
      </p:sp>
      <p:sp>
        <p:nvSpPr>
          <p:cNvPr id="32" name="Rect 32"/>
          <p:cNvSpPr/>
          <p:nvPr/>
        </p:nvSpPr>
        <p:spPr>
          <a:xfrm>
            <a:off x="8001000" y="2240280"/>
            <a:ext cx="3268980" cy="2148840"/>
          </a:xfrm>
          <a:prstGeom prst="rect">
            <a:avLst/>
          </a:prstGeom>
          <a:solidFill>
            <a:srgbClr val="F1EFED"/>
          </a:solidFill>
          <a:ln>
            <a:noFill/>
          </a:ln>
        </p:spPr>
        <p:txBody>
          <a:bodyPr/>
          <a:lstStyle/>
          <a:p>
            <a:endParaRPr lang="en-US"/>
          </a:p>
        </p:txBody>
      </p:sp>
      <p:sp>
        <p:nvSpPr>
          <p:cNvPr id="33" name="Rect 33"/>
          <p:cNvSpPr/>
          <p:nvPr/>
        </p:nvSpPr>
        <p:spPr>
          <a:xfrm>
            <a:off x="8001000" y="2240280"/>
            <a:ext cx="3268980" cy="50292"/>
          </a:xfrm>
          <a:prstGeom prst="rect">
            <a:avLst/>
          </a:prstGeom>
          <a:solidFill>
            <a:srgbClr val="EB1700"/>
          </a:solidFill>
          <a:ln>
            <a:noFill/>
          </a:ln>
        </p:spPr>
        <p:txBody>
          <a:bodyPr/>
          <a:lstStyle/>
          <a:p>
            <a:endParaRPr lang="en-US"/>
          </a:p>
        </p:txBody>
      </p:sp>
      <p:sp>
        <p:nvSpPr>
          <p:cNvPr id="34" name="Text 34"/>
          <p:cNvSpPr txBox="1"/>
          <p:nvPr/>
        </p:nvSpPr>
        <p:spPr>
          <a:xfrm>
            <a:off x="8293608" y="2542032"/>
            <a:ext cx="2720340" cy="502920"/>
          </a:xfrm>
          <a:prstGeom prst="rect">
            <a:avLst/>
          </a:prstGeom>
          <a:noFill/>
        </p:spPr>
        <p:txBody>
          <a:bodyPr wrap="square" lIns="0" tIns="0" rIns="0" bIns="0" anchor="t">
            <a:normAutofit/>
          </a:bodyPr>
          <a:lstStyle/>
          <a:p>
            <a:pPr algn="l">
              <a:lnSpc>
                <a:spcPct val="100000"/>
              </a:lnSpc>
              <a:buNone/>
            </a:pPr>
            <a:r>
              <a:rPr lang="en-US" sz="3000" b="1">
                <a:solidFill>
                  <a:srgbClr val="EB1700"/>
                </a:solidFill>
                <a:latin typeface="Arial"/>
                <a:cs typeface="Arial"/>
              </a:rPr>
              <a:t>2.22%</a:t>
            </a:r>
          </a:p>
        </p:txBody>
      </p:sp>
      <p:sp>
        <p:nvSpPr>
          <p:cNvPr id="35" name="Text 35"/>
          <p:cNvSpPr txBox="1"/>
          <p:nvPr/>
        </p:nvSpPr>
        <p:spPr>
          <a:xfrm>
            <a:off x="8293608" y="3072384"/>
            <a:ext cx="2720340" cy="457200"/>
          </a:xfrm>
          <a:prstGeom prst="rect">
            <a:avLst/>
          </a:prstGeom>
          <a:noFill/>
        </p:spPr>
        <p:txBody>
          <a:bodyPr wrap="square" lIns="0" tIns="0" rIns="0" bIns="0" anchor="t">
            <a:normAutofit/>
          </a:bodyPr>
          <a:lstStyle/>
          <a:p>
            <a:pPr algn="l">
              <a:lnSpc>
                <a:spcPct val="120000"/>
              </a:lnSpc>
              <a:buNone/>
            </a:pPr>
            <a:r>
              <a:rPr lang="en-US" sz="1150" b="1">
                <a:solidFill>
                  <a:srgbClr val="312C2A"/>
                </a:solidFill>
                <a:latin typeface="Arial"/>
                <a:cs typeface="Arial"/>
              </a:rPr>
              <a:t>lowest supplier defect rate</a:t>
            </a:r>
          </a:p>
        </p:txBody>
      </p:sp>
      <p:sp>
        <p:nvSpPr>
          <p:cNvPr id="36" name="Text 36"/>
          <p:cNvSpPr txBox="1"/>
          <p:nvPr/>
        </p:nvSpPr>
        <p:spPr>
          <a:xfrm>
            <a:off x="8293608" y="3584448"/>
            <a:ext cx="2720340" cy="685800"/>
          </a:xfrm>
          <a:prstGeom prst="rect">
            <a:avLst/>
          </a:prstGeom>
          <a:noFill/>
        </p:spPr>
        <p:txBody>
          <a:bodyPr wrap="square" lIns="0" tIns="0" rIns="0" bIns="0" anchor="t">
            <a:normAutofit/>
          </a:bodyPr>
          <a:lstStyle/>
          <a:p>
            <a:pPr algn="l">
              <a:lnSpc>
                <a:spcPct val="128000"/>
              </a:lnSpc>
              <a:buNone/>
            </a:pPr>
            <a:r>
              <a:rPr lang="en-US" sz="1000" b="0">
                <a:solidFill>
                  <a:srgbClr val="6E6259"/>
                </a:solidFill>
                <a:latin typeface="Arial"/>
                <a:cs typeface="Arial"/>
              </a:rPr>
              <a:t>NextGen Pharma leads on-time delivery at 91.5% with the lowest defect rate; other suppliers vary widely.</a:t>
            </a:r>
          </a:p>
        </p:txBody>
      </p:sp>
      <p:sp>
        <p:nvSpPr>
          <p:cNvPr id="37" name="Rect 37"/>
          <p:cNvSpPr/>
          <p:nvPr/>
        </p:nvSpPr>
        <p:spPr>
          <a:xfrm>
            <a:off x="914400" y="4681728"/>
            <a:ext cx="10355580" cy="1234440"/>
          </a:xfrm>
          <a:prstGeom prst="rect">
            <a:avLst/>
          </a:prstGeom>
          <a:solidFill>
            <a:srgbClr val="F1EFED"/>
          </a:solidFill>
          <a:ln>
            <a:noFill/>
          </a:ln>
        </p:spPr>
        <p:txBody>
          <a:bodyPr/>
          <a:lstStyle/>
          <a:p>
            <a:endParaRPr lang="en-US"/>
          </a:p>
        </p:txBody>
      </p:sp>
      <p:sp>
        <p:nvSpPr>
          <p:cNvPr id="38" name="Rect 38"/>
          <p:cNvSpPr/>
          <p:nvPr/>
        </p:nvSpPr>
        <p:spPr>
          <a:xfrm>
            <a:off x="914400" y="4681728"/>
            <a:ext cx="50292" cy="1234440"/>
          </a:xfrm>
          <a:prstGeom prst="rect">
            <a:avLst/>
          </a:prstGeom>
          <a:solidFill>
            <a:srgbClr val="EB1700"/>
          </a:solidFill>
          <a:ln>
            <a:noFill/>
          </a:ln>
        </p:spPr>
        <p:txBody>
          <a:bodyPr/>
          <a:lstStyle/>
          <a:p>
            <a:endParaRPr lang="en-US"/>
          </a:p>
        </p:txBody>
      </p:sp>
      <p:sp>
        <p:nvSpPr>
          <p:cNvPr id="39" name="Text 39"/>
          <p:cNvSpPr txBox="1"/>
          <p:nvPr/>
        </p:nvSpPr>
        <p:spPr>
          <a:xfrm>
            <a:off x="1207008" y="4919472"/>
            <a:ext cx="9784080" cy="274320"/>
          </a:xfrm>
          <a:prstGeom prst="rect">
            <a:avLst/>
          </a:prstGeom>
          <a:noFill/>
        </p:spPr>
        <p:txBody>
          <a:bodyPr wrap="square" lIns="0" tIns="0" rIns="0" bIns="0" anchor="t">
            <a:normAutofit/>
          </a:bodyPr>
          <a:lstStyle/>
          <a:p>
            <a:pPr algn="l">
              <a:lnSpc>
                <a:spcPct val="100000"/>
              </a:lnSpc>
              <a:buNone/>
            </a:pPr>
            <a:r>
              <a:rPr lang="en-US" sz="1200" b="1">
                <a:solidFill>
                  <a:srgbClr val="EB1700"/>
                </a:solidFill>
                <a:latin typeface="Arial"/>
                <a:cs typeface="Arial"/>
              </a:rPr>
              <a:t>Compliance implication</a:t>
            </a:r>
          </a:p>
        </p:txBody>
      </p:sp>
      <p:sp>
        <p:nvSpPr>
          <p:cNvPr id="40" name="Text 40"/>
          <p:cNvSpPr txBox="1"/>
          <p:nvPr/>
        </p:nvSpPr>
        <p:spPr>
          <a:xfrm>
            <a:off x="1207008" y="5230368"/>
            <a:ext cx="9692640" cy="594360"/>
          </a:xfrm>
          <a:prstGeom prst="rect">
            <a:avLst/>
          </a:prstGeom>
          <a:noFill/>
        </p:spPr>
        <p:txBody>
          <a:bodyPr wrap="square" lIns="0" tIns="0" rIns="0" bIns="0" anchor="t">
            <a:normAutofit/>
          </a:bodyPr>
          <a:lstStyle/>
          <a:p>
            <a:pPr algn="l">
              <a:lnSpc>
                <a:spcPct val="128000"/>
              </a:lnSpc>
              <a:buNone/>
            </a:pPr>
            <a:r>
              <a:rPr lang="en-US" sz="1050" b="0">
                <a:solidFill>
                  <a:srgbClr val="312C2A"/>
                </a:solidFill>
                <a:latin typeface="Arial"/>
                <a:cs typeface="Arial"/>
              </a:rPr>
              <a:t>Delays and quality variability create exposure when they affect production continuity, product availability, or documented service commitments. Components with repeated delays require stronger evidence of supplier reviews, corrective actions, and risk-based mitigation decisions.</a:t>
            </a:r>
          </a:p>
        </p:txBody>
      </p:sp>
      <p:pic>
        <p:nvPicPr>
          <p:cNvPr id="41" name="Logo">
            <a:extLst>
              <a:ext uri="{FF2B5EF4-FFF2-40B4-BE49-F238E27FC236}">
                <a16:creationId xmlns:a16="http://schemas.microsoft.com/office/drawing/2014/main" id="{BB841F8A-A2D0-460E-BB64-9F0637D752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113" y="6448421"/>
            <a:ext cx="1580087" cy="146304"/>
          </a:xfrm>
          <a:prstGeom prst="rect">
            <a:avLst/>
          </a:prstGeom>
        </p:spPr>
      </p:pic>
      <p:sp>
        <p:nvSpPr>
          <p:cNvPr id="42" name="Text 42"/>
          <p:cNvSpPr txBox="1"/>
          <p:nvPr/>
        </p:nvSpPr>
        <p:spPr>
          <a:xfrm>
            <a:off x="6400800" y="6419088"/>
            <a:ext cx="4937760" cy="201168"/>
          </a:xfrm>
          <a:prstGeom prst="rect">
            <a:avLst/>
          </a:prstGeom>
          <a:noFill/>
        </p:spPr>
        <p:txBody>
          <a:bodyPr wrap="square" lIns="0" tIns="0" rIns="0" bIns="0" anchor="t">
            <a:normAutofit/>
          </a:bodyPr>
          <a:lstStyle/>
          <a:p>
            <a:pPr algn="r">
              <a:lnSpc>
                <a:spcPct val="100000"/>
              </a:lnSpc>
              <a:buNone/>
            </a:pPr>
            <a:r>
              <a:rPr lang="en-US" sz="800" b="0">
                <a:solidFill>
                  <a:srgbClr val="6E6259"/>
                </a:solidFill>
                <a:latin typeface="Arial"/>
                <a:cs typeface="Arial"/>
              </a:rPr>
              <a:t>Supply Chain Issue Compliance Report  |  Summary of Key Issues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Rect 43"/>
          <p:cNvSpPr/>
          <p:nvPr/>
        </p:nvSpPr>
        <p:spPr>
          <a:xfrm>
            <a:off x="914400" y="566928"/>
            <a:ext cx="566928" cy="50292"/>
          </a:xfrm>
          <a:prstGeom prst="rect">
            <a:avLst/>
          </a:prstGeom>
          <a:solidFill>
            <a:srgbClr val="EB1700"/>
          </a:solidFill>
          <a:ln>
            <a:noFill/>
          </a:ln>
        </p:spPr>
        <p:txBody>
          <a:bodyPr/>
          <a:lstStyle/>
          <a:p>
            <a:endParaRPr lang="en-US"/>
          </a:p>
        </p:txBody>
      </p:sp>
      <p:sp>
        <p:nvSpPr>
          <p:cNvPr id="44" name="Text 44"/>
          <p:cNvSpPr txBox="1"/>
          <p:nvPr/>
        </p:nvSpPr>
        <p:spPr>
          <a:xfrm>
            <a:off x="914400" y="749808"/>
            <a:ext cx="9601200" cy="274320"/>
          </a:xfrm>
          <a:prstGeom prst="rect">
            <a:avLst/>
          </a:prstGeom>
          <a:noFill/>
        </p:spPr>
        <p:txBody>
          <a:bodyPr wrap="square" lIns="0" tIns="0" rIns="0" bIns="0" anchor="t">
            <a:normAutofit/>
          </a:bodyPr>
          <a:lstStyle/>
          <a:p>
            <a:pPr algn="l">
              <a:lnSpc>
                <a:spcPct val="100000"/>
              </a:lnSpc>
              <a:buNone/>
            </a:pPr>
            <a:r>
              <a:rPr lang="en-US" sz="1050" b="0">
                <a:solidFill>
                  <a:srgbClr val="6E6259"/>
                </a:solidFill>
                <a:latin typeface="Arial"/>
                <a:cs typeface="Arial"/>
              </a:rPr>
              <a:t>02  |  Analysis tab, 50 records</a:t>
            </a:r>
          </a:p>
        </p:txBody>
      </p:sp>
      <p:sp>
        <p:nvSpPr>
          <p:cNvPr id="45" name="Text 45"/>
          <p:cNvSpPr txBox="1"/>
          <p:nvPr/>
        </p:nvSpPr>
        <p:spPr>
          <a:xfrm>
            <a:off x="914400" y="1078992"/>
            <a:ext cx="10332720" cy="685800"/>
          </a:xfrm>
          <a:prstGeom prst="rect">
            <a:avLst/>
          </a:prstGeom>
          <a:noFill/>
        </p:spPr>
        <p:txBody>
          <a:bodyPr wrap="square" lIns="0" tIns="0" rIns="0" bIns="0" anchor="t">
            <a:normAutofit/>
          </a:bodyPr>
          <a:lstStyle/>
          <a:p>
            <a:pPr algn="l">
              <a:lnSpc>
                <a:spcPct val="100000"/>
              </a:lnSpc>
              <a:buNone/>
            </a:pPr>
            <a:r>
              <a:rPr lang="en-US" sz="2800" b="1">
                <a:solidFill>
                  <a:srgbClr val="EB1700"/>
                </a:solidFill>
                <a:latin typeface="Arial"/>
                <a:cs typeface="Arial"/>
              </a:rPr>
              <a:t>Data Insights from Excel Analysis</a:t>
            </a:r>
          </a:p>
        </p:txBody>
      </p:sp>
      <p:sp>
        <p:nvSpPr>
          <p:cNvPr id="46" name="Rect 46"/>
          <p:cNvSpPr/>
          <p:nvPr/>
        </p:nvSpPr>
        <p:spPr>
          <a:xfrm>
            <a:off x="914400" y="1847088"/>
            <a:ext cx="10355580" cy="10973"/>
          </a:xfrm>
          <a:prstGeom prst="rect">
            <a:avLst/>
          </a:prstGeom>
          <a:solidFill>
            <a:srgbClr val="D5CFC9"/>
          </a:solidFill>
          <a:ln>
            <a:noFill/>
          </a:ln>
        </p:spPr>
        <p:txBody>
          <a:bodyPr/>
          <a:lstStyle/>
          <a:p>
            <a:endParaRPr lang="en-US"/>
          </a:p>
        </p:txBody>
      </p:sp>
      <p:sp>
        <p:nvSpPr>
          <p:cNvPr id="47" name="Text 47"/>
          <p:cNvSpPr txBox="1"/>
          <p:nvPr/>
        </p:nvSpPr>
        <p:spPr>
          <a:xfrm>
            <a:off x="914400" y="2121408"/>
            <a:ext cx="4754880" cy="256032"/>
          </a:xfrm>
          <a:prstGeom prst="rect">
            <a:avLst/>
          </a:prstGeom>
          <a:noFill/>
        </p:spPr>
        <p:txBody>
          <a:bodyPr wrap="square" lIns="0" tIns="0" rIns="0" bIns="0" anchor="t">
            <a:normAutofit/>
          </a:bodyPr>
          <a:lstStyle/>
          <a:p>
            <a:pPr algn="l">
              <a:lnSpc>
                <a:spcPct val="100000"/>
              </a:lnSpc>
              <a:buNone/>
            </a:pPr>
            <a:r>
              <a:rPr lang="en-US" sz="1200" b="1">
                <a:solidFill>
                  <a:srgbClr val="312C2A"/>
                </a:solidFill>
                <a:latin typeface="Arial"/>
                <a:cs typeface="Arial"/>
              </a:rPr>
              <a:t>Average delivery timeline by risk level</a:t>
            </a:r>
          </a:p>
        </p:txBody>
      </p:sp>
      <p:sp>
        <p:nvSpPr>
          <p:cNvPr id="48" name="Text 48"/>
          <p:cNvSpPr txBox="1"/>
          <p:nvPr/>
        </p:nvSpPr>
        <p:spPr>
          <a:xfrm>
            <a:off x="914400" y="2542032"/>
            <a:ext cx="960120" cy="219456"/>
          </a:xfrm>
          <a:prstGeom prst="rect">
            <a:avLst/>
          </a:prstGeom>
          <a:noFill/>
        </p:spPr>
        <p:txBody>
          <a:bodyPr wrap="square" lIns="0" tIns="0" rIns="0" bIns="0" anchor="t">
            <a:normAutofit/>
          </a:bodyPr>
          <a:lstStyle/>
          <a:p>
            <a:pPr algn="l">
              <a:lnSpc>
                <a:spcPct val="100000"/>
              </a:lnSpc>
              <a:buNone/>
            </a:pPr>
            <a:r>
              <a:rPr lang="en-US" sz="1100" b="1">
                <a:solidFill>
                  <a:srgbClr val="312C2A"/>
                </a:solidFill>
                <a:latin typeface="Arial"/>
                <a:cs typeface="Arial"/>
              </a:rPr>
              <a:t>Medium</a:t>
            </a:r>
          </a:p>
        </p:txBody>
      </p:sp>
      <p:sp>
        <p:nvSpPr>
          <p:cNvPr id="49" name="Rect 49"/>
          <p:cNvSpPr/>
          <p:nvPr/>
        </p:nvSpPr>
        <p:spPr>
          <a:xfrm>
            <a:off x="1920240" y="2583180"/>
            <a:ext cx="2788920" cy="137160"/>
          </a:xfrm>
          <a:prstGeom prst="rect">
            <a:avLst/>
          </a:prstGeom>
          <a:solidFill>
            <a:srgbClr val="E8E6E3"/>
          </a:solidFill>
          <a:ln>
            <a:noFill/>
          </a:ln>
        </p:spPr>
        <p:txBody>
          <a:bodyPr/>
          <a:lstStyle/>
          <a:p>
            <a:endParaRPr lang="en-US"/>
          </a:p>
        </p:txBody>
      </p:sp>
      <p:sp>
        <p:nvSpPr>
          <p:cNvPr id="50" name="Rect 50"/>
          <p:cNvSpPr/>
          <p:nvPr/>
        </p:nvSpPr>
        <p:spPr>
          <a:xfrm>
            <a:off x="1920240" y="2583180"/>
            <a:ext cx="2788920" cy="137160"/>
          </a:xfrm>
          <a:prstGeom prst="rect">
            <a:avLst/>
          </a:prstGeom>
          <a:solidFill>
            <a:srgbClr val="EB1700"/>
          </a:solidFill>
          <a:ln>
            <a:noFill/>
          </a:ln>
        </p:spPr>
        <p:txBody>
          <a:bodyPr/>
          <a:lstStyle/>
          <a:p>
            <a:endParaRPr lang="en-US"/>
          </a:p>
        </p:txBody>
      </p:sp>
      <p:sp>
        <p:nvSpPr>
          <p:cNvPr id="51" name="Text 51"/>
          <p:cNvSpPr txBox="1"/>
          <p:nvPr/>
        </p:nvSpPr>
        <p:spPr>
          <a:xfrm>
            <a:off x="4864608" y="2542032"/>
            <a:ext cx="868680" cy="219456"/>
          </a:xfrm>
          <a:prstGeom prst="rect">
            <a:avLst/>
          </a:prstGeom>
          <a:noFill/>
        </p:spPr>
        <p:txBody>
          <a:bodyPr wrap="square" lIns="0" tIns="0" rIns="0" bIns="0" anchor="t">
            <a:normAutofit/>
          </a:bodyPr>
          <a:lstStyle/>
          <a:p>
            <a:pPr algn="r">
              <a:lnSpc>
                <a:spcPct val="100000"/>
              </a:lnSpc>
              <a:buNone/>
            </a:pPr>
            <a:r>
              <a:rPr lang="en-US" sz="1100" b="1">
                <a:solidFill>
                  <a:srgbClr val="EB1700"/>
                </a:solidFill>
                <a:latin typeface="Arial"/>
                <a:cs typeface="Arial"/>
              </a:rPr>
              <a:t>15.1 days</a:t>
            </a:r>
          </a:p>
        </p:txBody>
      </p:sp>
      <p:sp>
        <p:nvSpPr>
          <p:cNvPr id="52" name="Text 52"/>
          <p:cNvSpPr txBox="1"/>
          <p:nvPr/>
        </p:nvSpPr>
        <p:spPr>
          <a:xfrm>
            <a:off x="1920240" y="2788920"/>
            <a:ext cx="3291840" cy="201168"/>
          </a:xfrm>
          <a:prstGeom prst="rect">
            <a:avLst/>
          </a:prstGeom>
          <a:noFill/>
        </p:spPr>
        <p:txBody>
          <a:bodyPr wrap="square" lIns="0" tIns="0" rIns="0" bIns="0" anchor="t">
            <a:normAutofit/>
          </a:bodyPr>
          <a:lstStyle/>
          <a:p>
            <a:pPr algn="l">
              <a:lnSpc>
                <a:spcPct val="100000"/>
              </a:lnSpc>
              <a:buNone/>
            </a:pPr>
            <a:r>
              <a:rPr lang="en-US" sz="900" b="0">
                <a:solidFill>
                  <a:srgbClr val="6E6259"/>
                </a:solidFill>
                <a:latin typeface="Arial"/>
                <a:cs typeface="Arial"/>
              </a:rPr>
              <a:t>24 records  ·  48%</a:t>
            </a:r>
          </a:p>
        </p:txBody>
      </p:sp>
      <p:sp>
        <p:nvSpPr>
          <p:cNvPr id="53" name="Text 53"/>
          <p:cNvSpPr txBox="1"/>
          <p:nvPr/>
        </p:nvSpPr>
        <p:spPr>
          <a:xfrm>
            <a:off x="914400" y="3200400"/>
            <a:ext cx="960120" cy="219456"/>
          </a:xfrm>
          <a:prstGeom prst="rect">
            <a:avLst/>
          </a:prstGeom>
          <a:noFill/>
        </p:spPr>
        <p:txBody>
          <a:bodyPr wrap="square" lIns="0" tIns="0" rIns="0" bIns="0" anchor="t">
            <a:normAutofit/>
          </a:bodyPr>
          <a:lstStyle/>
          <a:p>
            <a:pPr algn="l">
              <a:lnSpc>
                <a:spcPct val="100000"/>
              </a:lnSpc>
              <a:buNone/>
            </a:pPr>
            <a:r>
              <a:rPr lang="en-US" sz="1100" b="1">
                <a:solidFill>
                  <a:srgbClr val="312C2A"/>
                </a:solidFill>
                <a:latin typeface="Arial"/>
                <a:cs typeface="Arial"/>
              </a:rPr>
              <a:t>Low</a:t>
            </a:r>
          </a:p>
        </p:txBody>
      </p:sp>
      <p:sp>
        <p:nvSpPr>
          <p:cNvPr id="54" name="Rect 54"/>
          <p:cNvSpPr/>
          <p:nvPr/>
        </p:nvSpPr>
        <p:spPr>
          <a:xfrm>
            <a:off x="1920240" y="3241548"/>
            <a:ext cx="2788920" cy="137160"/>
          </a:xfrm>
          <a:prstGeom prst="rect">
            <a:avLst/>
          </a:prstGeom>
          <a:solidFill>
            <a:srgbClr val="E8E6E3"/>
          </a:solidFill>
          <a:ln>
            <a:noFill/>
          </a:ln>
        </p:spPr>
        <p:txBody>
          <a:bodyPr/>
          <a:lstStyle/>
          <a:p>
            <a:endParaRPr lang="en-US"/>
          </a:p>
        </p:txBody>
      </p:sp>
      <p:sp>
        <p:nvSpPr>
          <p:cNvPr id="55" name="Rect 55"/>
          <p:cNvSpPr/>
          <p:nvPr/>
        </p:nvSpPr>
        <p:spPr>
          <a:xfrm>
            <a:off x="1920240" y="3241548"/>
            <a:ext cx="2370582" cy="137160"/>
          </a:xfrm>
          <a:prstGeom prst="rect">
            <a:avLst/>
          </a:prstGeom>
          <a:solidFill>
            <a:srgbClr val="EB1700"/>
          </a:solidFill>
          <a:ln>
            <a:noFill/>
          </a:ln>
        </p:spPr>
        <p:txBody>
          <a:bodyPr/>
          <a:lstStyle/>
          <a:p>
            <a:endParaRPr lang="en-US"/>
          </a:p>
        </p:txBody>
      </p:sp>
      <p:sp>
        <p:nvSpPr>
          <p:cNvPr id="56" name="Text 56"/>
          <p:cNvSpPr txBox="1"/>
          <p:nvPr/>
        </p:nvSpPr>
        <p:spPr>
          <a:xfrm>
            <a:off x="4864608" y="3200400"/>
            <a:ext cx="868680" cy="219456"/>
          </a:xfrm>
          <a:prstGeom prst="rect">
            <a:avLst/>
          </a:prstGeom>
          <a:noFill/>
        </p:spPr>
        <p:txBody>
          <a:bodyPr wrap="square" lIns="0" tIns="0" rIns="0" bIns="0" anchor="t">
            <a:normAutofit/>
          </a:bodyPr>
          <a:lstStyle/>
          <a:p>
            <a:pPr algn="r">
              <a:lnSpc>
                <a:spcPct val="100000"/>
              </a:lnSpc>
              <a:buNone/>
            </a:pPr>
            <a:r>
              <a:rPr lang="en-US" sz="1100" b="1">
                <a:solidFill>
                  <a:srgbClr val="EB1700"/>
                </a:solidFill>
                <a:latin typeface="Arial"/>
                <a:cs typeface="Arial"/>
              </a:rPr>
              <a:t>12.9 days</a:t>
            </a:r>
          </a:p>
        </p:txBody>
      </p:sp>
      <p:sp>
        <p:nvSpPr>
          <p:cNvPr id="57" name="Text 57"/>
          <p:cNvSpPr txBox="1"/>
          <p:nvPr/>
        </p:nvSpPr>
        <p:spPr>
          <a:xfrm>
            <a:off x="1920240" y="3447288"/>
            <a:ext cx="3291840" cy="201168"/>
          </a:xfrm>
          <a:prstGeom prst="rect">
            <a:avLst/>
          </a:prstGeom>
          <a:noFill/>
        </p:spPr>
        <p:txBody>
          <a:bodyPr wrap="square" lIns="0" tIns="0" rIns="0" bIns="0" anchor="t">
            <a:normAutofit/>
          </a:bodyPr>
          <a:lstStyle/>
          <a:p>
            <a:pPr algn="l">
              <a:lnSpc>
                <a:spcPct val="100000"/>
              </a:lnSpc>
              <a:buNone/>
            </a:pPr>
            <a:r>
              <a:rPr lang="en-US" sz="900" b="0">
                <a:solidFill>
                  <a:srgbClr val="6E6259"/>
                </a:solidFill>
                <a:latin typeface="Arial"/>
                <a:cs typeface="Arial"/>
              </a:rPr>
              <a:t>14 records  ·  28%</a:t>
            </a:r>
          </a:p>
        </p:txBody>
      </p:sp>
      <p:sp>
        <p:nvSpPr>
          <p:cNvPr id="58" name="Text 58"/>
          <p:cNvSpPr txBox="1"/>
          <p:nvPr/>
        </p:nvSpPr>
        <p:spPr>
          <a:xfrm>
            <a:off x="914400" y="3858768"/>
            <a:ext cx="960120" cy="219456"/>
          </a:xfrm>
          <a:prstGeom prst="rect">
            <a:avLst/>
          </a:prstGeom>
          <a:noFill/>
        </p:spPr>
        <p:txBody>
          <a:bodyPr wrap="square" lIns="0" tIns="0" rIns="0" bIns="0" anchor="t">
            <a:normAutofit/>
          </a:bodyPr>
          <a:lstStyle/>
          <a:p>
            <a:pPr algn="l">
              <a:lnSpc>
                <a:spcPct val="100000"/>
              </a:lnSpc>
              <a:buNone/>
            </a:pPr>
            <a:r>
              <a:rPr lang="en-US" sz="1100" b="1">
                <a:solidFill>
                  <a:srgbClr val="312C2A"/>
                </a:solidFill>
                <a:latin typeface="Arial"/>
                <a:cs typeface="Arial"/>
              </a:rPr>
              <a:t>High</a:t>
            </a:r>
          </a:p>
        </p:txBody>
      </p:sp>
      <p:sp>
        <p:nvSpPr>
          <p:cNvPr id="59" name="Rect 59"/>
          <p:cNvSpPr/>
          <p:nvPr/>
        </p:nvSpPr>
        <p:spPr>
          <a:xfrm>
            <a:off x="1920240" y="3899916"/>
            <a:ext cx="2788920" cy="137160"/>
          </a:xfrm>
          <a:prstGeom prst="rect">
            <a:avLst/>
          </a:prstGeom>
          <a:solidFill>
            <a:srgbClr val="E8E6E3"/>
          </a:solidFill>
          <a:ln>
            <a:noFill/>
          </a:ln>
        </p:spPr>
        <p:txBody>
          <a:bodyPr/>
          <a:lstStyle/>
          <a:p>
            <a:endParaRPr lang="en-US"/>
          </a:p>
        </p:txBody>
      </p:sp>
      <p:sp>
        <p:nvSpPr>
          <p:cNvPr id="60" name="Rect 60"/>
          <p:cNvSpPr/>
          <p:nvPr/>
        </p:nvSpPr>
        <p:spPr>
          <a:xfrm>
            <a:off x="1920240" y="3899916"/>
            <a:ext cx="2063801" cy="137160"/>
          </a:xfrm>
          <a:prstGeom prst="rect">
            <a:avLst/>
          </a:prstGeom>
          <a:solidFill>
            <a:srgbClr val="EB1700"/>
          </a:solidFill>
          <a:ln>
            <a:noFill/>
          </a:ln>
        </p:spPr>
        <p:txBody>
          <a:bodyPr/>
          <a:lstStyle/>
          <a:p>
            <a:endParaRPr lang="en-US"/>
          </a:p>
        </p:txBody>
      </p:sp>
      <p:sp>
        <p:nvSpPr>
          <p:cNvPr id="61" name="Text 61"/>
          <p:cNvSpPr txBox="1"/>
          <p:nvPr/>
        </p:nvSpPr>
        <p:spPr>
          <a:xfrm>
            <a:off x="4864608" y="3858768"/>
            <a:ext cx="868680" cy="219456"/>
          </a:xfrm>
          <a:prstGeom prst="rect">
            <a:avLst/>
          </a:prstGeom>
          <a:noFill/>
        </p:spPr>
        <p:txBody>
          <a:bodyPr wrap="square" lIns="0" tIns="0" rIns="0" bIns="0" anchor="t">
            <a:normAutofit/>
          </a:bodyPr>
          <a:lstStyle/>
          <a:p>
            <a:pPr algn="r">
              <a:lnSpc>
                <a:spcPct val="100000"/>
              </a:lnSpc>
              <a:buNone/>
            </a:pPr>
            <a:r>
              <a:rPr lang="en-US" sz="1100" b="1">
                <a:solidFill>
                  <a:srgbClr val="EB1700"/>
                </a:solidFill>
                <a:latin typeface="Arial"/>
                <a:cs typeface="Arial"/>
              </a:rPr>
              <a:t>11.3 days</a:t>
            </a:r>
          </a:p>
        </p:txBody>
      </p:sp>
      <p:sp>
        <p:nvSpPr>
          <p:cNvPr id="62" name="Text 62"/>
          <p:cNvSpPr txBox="1"/>
          <p:nvPr/>
        </p:nvSpPr>
        <p:spPr>
          <a:xfrm>
            <a:off x="1920240" y="4105656"/>
            <a:ext cx="3291840" cy="201168"/>
          </a:xfrm>
          <a:prstGeom prst="rect">
            <a:avLst/>
          </a:prstGeom>
          <a:noFill/>
        </p:spPr>
        <p:txBody>
          <a:bodyPr wrap="square" lIns="0" tIns="0" rIns="0" bIns="0" anchor="t">
            <a:normAutofit/>
          </a:bodyPr>
          <a:lstStyle/>
          <a:p>
            <a:pPr algn="l">
              <a:lnSpc>
                <a:spcPct val="100000"/>
              </a:lnSpc>
              <a:buNone/>
            </a:pPr>
            <a:r>
              <a:rPr lang="en-US" sz="900" b="0">
                <a:solidFill>
                  <a:srgbClr val="6E6259"/>
                </a:solidFill>
                <a:latin typeface="Arial"/>
                <a:cs typeface="Arial"/>
              </a:rPr>
              <a:t>12 records  ·  24%</a:t>
            </a:r>
          </a:p>
        </p:txBody>
      </p:sp>
      <p:sp>
        <p:nvSpPr>
          <p:cNvPr id="63" name="Rect 63"/>
          <p:cNvSpPr/>
          <p:nvPr/>
        </p:nvSpPr>
        <p:spPr>
          <a:xfrm>
            <a:off x="914400" y="4709160"/>
            <a:ext cx="4754880" cy="1188720"/>
          </a:xfrm>
          <a:prstGeom prst="rect">
            <a:avLst/>
          </a:prstGeom>
          <a:solidFill>
            <a:srgbClr val="F1EFED"/>
          </a:solidFill>
          <a:ln>
            <a:noFill/>
          </a:ln>
        </p:spPr>
        <p:txBody>
          <a:bodyPr/>
          <a:lstStyle/>
          <a:p>
            <a:endParaRPr lang="en-US"/>
          </a:p>
        </p:txBody>
      </p:sp>
      <p:sp>
        <p:nvSpPr>
          <p:cNvPr id="64" name="Text 64"/>
          <p:cNvSpPr txBox="1"/>
          <p:nvPr/>
        </p:nvSpPr>
        <p:spPr>
          <a:xfrm>
            <a:off x="1170432" y="4919472"/>
            <a:ext cx="4297680" cy="777240"/>
          </a:xfrm>
          <a:prstGeom prst="rect">
            <a:avLst/>
          </a:prstGeom>
          <a:noFill/>
        </p:spPr>
        <p:txBody>
          <a:bodyPr wrap="square" lIns="0" tIns="0" rIns="0" bIns="0" anchor="t">
            <a:normAutofit/>
          </a:bodyPr>
          <a:lstStyle/>
          <a:p>
            <a:pPr algn="l">
              <a:lnSpc>
                <a:spcPct val="128000"/>
              </a:lnSpc>
              <a:buNone/>
            </a:pPr>
            <a:r>
              <a:rPr lang="en-US" sz="1050" b="1">
                <a:solidFill>
                  <a:srgbClr val="EB1700"/>
                </a:solidFill>
                <a:latin typeface="Arial"/>
                <a:cs typeface="Arial"/>
              </a:rPr>
              <a:t>Risk concentration: </a:t>
            </a:r>
            <a:r>
              <a:rPr lang="en-US" sz="1050" b="0">
                <a:solidFill>
                  <a:srgbClr val="312C2A"/>
                </a:solidFill>
                <a:latin typeface="Arial"/>
                <a:cs typeface="Arial"/>
              </a:rPr>
              <a:t>nearly half of all records sit in the medium band, yet they carry the longest delivery timelines — issues are accumulating outside the high-risk classification.</a:t>
            </a:r>
          </a:p>
        </p:txBody>
      </p:sp>
      <p:sp>
        <p:nvSpPr>
          <p:cNvPr id="65" name="Text 65"/>
          <p:cNvSpPr txBox="1"/>
          <p:nvPr/>
        </p:nvSpPr>
        <p:spPr>
          <a:xfrm>
            <a:off x="6263640" y="2121408"/>
            <a:ext cx="5029200" cy="256032"/>
          </a:xfrm>
          <a:prstGeom prst="rect">
            <a:avLst/>
          </a:prstGeom>
          <a:noFill/>
        </p:spPr>
        <p:txBody>
          <a:bodyPr wrap="square" lIns="0" tIns="0" rIns="0" bIns="0" anchor="t">
            <a:normAutofit/>
          </a:bodyPr>
          <a:lstStyle/>
          <a:p>
            <a:pPr algn="l">
              <a:lnSpc>
                <a:spcPct val="100000"/>
              </a:lnSpc>
              <a:buNone/>
            </a:pPr>
            <a:r>
              <a:rPr lang="en-US" sz="1200" b="1">
                <a:solidFill>
                  <a:srgbClr val="312C2A"/>
                </a:solidFill>
                <a:latin typeface="Arial"/>
                <a:cs typeface="Arial"/>
              </a:rPr>
              <a:t>On-time delivery — delayed components</a:t>
            </a:r>
          </a:p>
        </p:txBody>
      </p:sp>
      <p:sp>
        <p:nvSpPr>
          <p:cNvPr id="66" name="Rect 66"/>
          <p:cNvSpPr/>
          <p:nvPr/>
        </p:nvSpPr>
        <p:spPr>
          <a:xfrm>
            <a:off x="6263640" y="2487168"/>
            <a:ext cx="5006340" cy="310896"/>
          </a:xfrm>
          <a:prstGeom prst="rect">
            <a:avLst/>
          </a:prstGeom>
          <a:solidFill>
            <a:srgbClr val="312C2A"/>
          </a:solidFill>
          <a:ln>
            <a:noFill/>
          </a:ln>
        </p:spPr>
        <p:txBody>
          <a:bodyPr/>
          <a:lstStyle/>
          <a:p>
            <a:endParaRPr lang="en-US"/>
          </a:p>
        </p:txBody>
      </p:sp>
      <p:sp>
        <p:nvSpPr>
          <p:cNvPr id="67" name="Text 67"/>
          <p:cNvSpPr txBox="1"/>
          <p:nvPr/>
        </p:nvSpPr>
        <p:spPr>
          <a:xfrm>
            <a:off x="6464808" y="2560320"/>
            <a:ext cx="1737360" cy="201168"/>
          </a:xfrm>
          <a:prstGeom prst="rect">
            <a:avLst/>
          </a:prstGeom>
          <a:noFill/>
        </p:spPr>
        <p:txBody>
          <a:bodyPr wrap="square" lIns="0" tIns="0" rIns="0" bIns="0" anchor="t">
            <a:normAutofit/>
          </a:bodyPr>
          <a:lstStyle/>
          <a:p>
            <a:pPr algn="l">
              <a:lnSpc>
                <a:spcPct val="100000"/>
              </a:lnSpc>
              <a:buNone/>
            </a:pPr>
            <a:r>
              <a:rPr lang="en-US" sz="950" b="1">
                <a:solidFill>
                  <a:srgbClr val="FFFFFF"/>
                </a:solidFill>
                <a:latin typeface="Arial"/>
                <a:cs typeface="Arial"/>
              </a:rPr>
              <a:t>Component</a:t>
            </a:r>
          </a:p>
        </p:txBody>
      </p:sp>
      <p:sp>
        <p:nvSpPr>
          <p:cNvPr id="68" name="Text 68"/>
          <p:cNvSpPr txBox="1"/>
          <p:nvPr/>
        </p:nvSpPr>
        <p:spPr>
          <a:xfrm>
            <a:off x="8275320" y="2560320"/>
            <a:ext cx="1463040" cy="201168"/>
          </a:xfrm>
          <a:prstGeom prst="rect">
            <a:avLst/>
          </a:prstGeom>
          <a:noFill/>
        </p:spPr>
        <p:txBody>
          <a:bodyPr wrap="square" lIns="0" tIns="0" rIns="0" bIns="0" anchor="t">
            <a:normAutofit/>
          </a:bodyPr>
          <a:lstStyle/>
          <a:p>
            <a:pPr algn="l">
              <a:lnSpc>
                <a:spcPct val="100000"/>
              </a:lnSpc>
              <a:buNone/>
            </a:pPr>
            <a:r>
              <a:rPr lang="en-US" sz="950" b="1">
                <a:solidFill>
                  <a:srgbClr val="FFFFFF"/>
                </a:solidFill>
                <a:latin typeface="Arial"/>
                <a:cs typeface="Arial"/>
              </a:rPr>
              <a:t>Delayed records</a:t>
            </a:r>
          </a:p>
        </p:txBody>
      </p:sp>
      <p:sp>
        <p:nvSpPr>
          <p:cNvPr id="69" name="Text 69"/>
          <p:cNvSpPr txBox="1"/>
          <p:nvPr/>
        </p:nvSpPr>
        <p:spPr>
          <a:xfrm>
            <a:off x="9784080" y="2560320"/>
            <a:ext cx="1280160" cy="201168"/>
          </a:xfrm>
          <a:prstGeom prst="rect">
            <a:avLst/>
          </a:prstGeom>
          <a:noFill/>
        </p:spPr>
        <p:txBody>
          <a:bodyPr wrap="square" lIns="0" tIns="0" rIns="0" bIns="0" anchor="t">
            <a:normAutofit/>
          </a:bodyPr>
          <a:lstStyle/>
          <a:p>
            <a:pPr algn="r">
              <a:lnSpc>
                <a:spcPct val="100000"/>
              </a:lnSpc>
              <a:buNone/>
            </a:pPr>
            <a:r>
              <a:rPr lang="en-US" sz="950" b="1">
                <a:solidFill>
                  <a:srgbClr val="FFFFFF"/>
                </a:solidFill>
                <a:latin typeface="Arial"/>
                <a:cs typeface="Arial"/>
              </a:rPr>
              <a:t>Avg on-time rate</a:t>
            </a:r>
          </a:p>
        </p:txBody>
      </p:sp>
      <p:sp>
        <p:nvSpPr>
          <p:cNvPr id="70" name="Rect 70"/>
          <p:cNvSpPr/>
          <p:nvPr/>
        </p:nvSpPr>
        <p:spPr>
          <a:xfrm>
            <a:off x="6263640" y="2798064"/>
            <a:ext cx="5006340" cy="475488"/>
          </a:xfrm>
          <a:prstGeom prst="rect">
            <a:avLst/>
          </a:prstGeom>
          <a:solidFill>
            <a:srgbClr val="F1EFED"/>
          </a:solidFill>
          <a:ln>
            <a:noFill/>
          </a:ln>
        </p:spPr>
        <p:txBody>
          <a:bodyPr/>
          <a:lstStyle/>
          <a:p>
            <a:endParaRPr lang="en-US"/>
          </a:p>
        </p:txBody>
      </p:sp>
      <p:sp>
        <p:nvSpPr>
          <p:cNvPr id="71" name="Rect 71"/>
          <p:cNvSpPr/>
          <p:nvPr/>
        </p:nvSpPr>
        <p:spPr>
          <a:xfrm>
            <a:off x="6263640" y="3268980"/>
            <a:ext cx="5006340" cy="7315"/>
          </a:xfrm>
          <a:prstGeom prst="rect">
            <a:avLst/>
          </a:prstGeom>
          <a:solidFill>
            <a:srgbClr val="D5CFC9"/>
          </a:solidFill>
          <a:ln>
            <a:noFill/>
          </a:ln>
        </p:spPr>
        <p:txBody>
          <a:bodyPr/>
          <a:lstStyle/>
          <a:p>
            <a:endParaRPr lang="en-US"/>
          </a:p>
        </p:txBody>
      </p:sp>
      <p:sp>
        <p:nvSpPr>
          <p:cNvPr id="72" name="Rect 72"/>
          <p:cNvSpPr/>
          <p:nvPr/>
        </p:nvSpPr>
        <p:spPr>
          <a:xfrm>
            <a:off x="6263640" y="2798064"/>
            <a:ext cx="45720" cy="475488"/>
          </a:xfrm>
          <a:prstGeom prst="rect">
            <a:avLst/>
          </a:prstGeom>
          <a:solidFill>
            <a:srgbClr val="EB1700"/>
          </a:solidFill>
          <a:ln>
            <a:noFill/>
          </a:ln>
        </p:spPr>
        <p:txBody>
          <a:bodyPr/>
          <a:lstStyle/>
          <a:p>
            <a:endParaRPr lang="en-US"/>
          </a:p>
        </p:txBody>
      </p:sp>
      <p:sp>
        <p:nvSpPr>
          <p:cNvPr id="73" name="Text 73"/>
          <p:cNvSpPr txBox="1"/>
          <p:nvPr/>
        </p:nvSpPr>
        <p:spPr>
          <a:xfrm>
            <a:off x="6464808" y="2944368"/>
            <a:ext cx="1737360" cy="219456"/>
          </a:xfrm>
          <a:prstGeom prst="rect">
            <a:avLst/>
          </a:prstGeom>
          <a:noFill/>
        </p:spPr>
        <p:txBody>
          <a:bodyPr wrap="square" lIns="0" tIns="0" rIns="0" bIns="0" anchor="t">
            <a:normAutofit/>
          </a:bodyPr>
          <a:lstStyle/>
          <a:p>
            <a:pPr algn="l">
              <a:lnSpc>
                <a:spcPct val="100000"/>
              </a:lnSpc>
              <a:buNone/>
            </a:pPr>
            <a:r>
              <a:rPr lang="en-US" sz="1100" b="1">
                <a:solidFill>
                  <a:srgbClr val="EB1700"/>
                </a:solidFill>
                <a:latin typeface="Arial"/>
                <a:cs typeface="Arial"/>
              </a:rPr>
              <a:t>COAT890</a:t>
            </a:r>
          </a:p>
        </p:txBody>
      </p:sp>
      <p:sp>
        <p:nvSpPr>
          <p:cNvPr id="74" name="Text 74"/>
          <p:cNvSpPr txBox="1"/>
          <p:nvPr/>
        </p:nvSpPr>
        <p:spPr>
          <a:xfrm>
            <a:off x="8275320" y="2944368"/>
            <a:ext cx="1463040" cy="219456"/>
          </a:xfrm>
          <a:prstGeom prst="rect">
            <a:avLst/>
          </a:prstGeom>
          <a:noFill/>
        </p:spPr>
        <p:txBody>
          <a:bodyPr wrap="square" lIns="0" tIns="0" rIns="0" bIns="0" anchor="t">
            <a:normAutofit/>
          </a:bodyPr>
          <a:lstStyle/>
          <a:p>
            <a:pPr algn="l">
              <a:lnSpc>
                <a:spcPct val="100000"/>
              </a:lnSpc>
              <a:buNone/>
            </a:pPr>
            <a:r>
              <a:rPr lang="en-US" sz="1100" b="0">
                <a:solidFill>
                  <a:srgbClr val="312C2A"/>
                </a:solidFill>
                <a:latin typeface="Arial"/>
                <a:cs typeface="Arial"/>
              </a:rPr>
              <a:t>5</a:t>
            </a:r>
          </a:p>
        </p:txBody>
      </p:sp>
      <p:sp>
        <p:nvSpPr>
          <p:cNvPr id="75" name="Text 75"/>
          <p:cNvSpPr txBox="1"/>
          <p:nvPr/>
        </p:nvSpPr>
        <p:spPr>
          <a:xfrm>
            <a:off x="9784080" y="2944368"/>
            <a:ext cx="1280160" cy="219456"/>
          </a:xfrm>
          <a:prstGeom prst="rect">
            <a:avLst/>
          </a:prstGeom>
          <a:noFill/>
        </p:spPr>
        <p:txBody>
          <a:bodyPr wrap="square" lIns="0" tIns="0" rIns="0" bIns="0" anchor="t">
            <a:normAutofit/>
          </a:bodyPr>
          <a:lstStyle/>
          <a:p>
            <a:pPr algn="r">
              <a:lnSpc>
                <a:spcPct val="100000"/>
              </a:lnSpc>
              <a:buNone/>
            </a:pPr>
            <a:r>
              <a:rPr lang="en-US" sz="1100" b="1">
                <a:solidFill>
                  <a:srgbClr val="EB1700"/>
                </a:solidFill>
                <a:latin typeface="Arial"/>
                <a:cs typeface="Arial"/>
              </a:rPr>
              <a:t>84.2%</a:t>
            </a:r>
          </a:p>
        </p:txBody>
      </p:sp>
      <p:sp>
        <p:nvSpPr>
          <p:cNvPr id="76" name="Rect 76"/>
          <p:cNvSpPr/>
          <p:nvPr/>
        </p:nvSpPr>
        <p:spPr>
          <a:xfrm>
            <a:off x="6263640" y="3273552"/>
            <a:ext cx="5006340" cy="475488"/>
          </a:xfrm>
          <a:prstGeom prst="rect">
            <a:avLst/>
          </a:prstGeom>
          <a:solidFill>
            <a:srgbClr val="FFFFFF"/>
          </a:solidFill>
          <a:ln>
            <a:noFill/>
          </a:ln>
        </p:spPr>
        <p:txBody>
          <a:bodyPr/>
          <a:lstStyle/>
          <a:p>
            <a:endParaRPr lang="en-US"/>
          </a:p>
        </p:txBody>
      </p:sp>
      <p:sp>
        <p:nvSpPr>
          <p:cNvPr id="77" name="Rect 77"/>
          <p:cNvSpPr/>
          <p:nvPr/>
        </p:nvSpPr>
        <p:spPr>
          <a:xfrm>
            <a:off x="6263640" y="3744468"/>
            <a:ext cx="5006340" cy="7315"/>
          </a:xfrm>
          <a:prstGeom prst="rect">
            <a:avLst/>
          </a:prstGeom>
          <a:solidFill>
            <a:srgbClr val="D5CFC9"/>
          </a:solidFill>
          <a:ln>
            <a:noFill/>
          </a:ln>
        </p:spPr>
        <p:txBody>
          <a:bodyPr/>
          <a:lstStyle/>
          <a:p>
            <a:endParaRPr lang="en-US"/>
          </a:p>
        </p:txBody>
      </p:sp>
      <p:sp>
        <p:nvSpPr>
          <p:cNvPr id="78" name="Text 78"/>
          <p:cNvSpPr txBox="1"/>
          <p:nvPr/>
        </p:nvSpPr>
        <p:spPr>
          <a:xfrm>
            <a:off x="6464808" y="3419856"/>
            <a:ext cx="1737360" cy="219456"/>
          </a:xfrm>
          <a:prstGeom prst="rect">
            <a:avLst/>
          </a:prstGeom>
          <a:noFill/>
        </p:spPr>
        <p:txBody>
          <a:bodyPr wrap="square" lIns="0" tIns="0" rIns="0" bIns="0" anchor="t">
            <a:normAutofit/>
          </a:bodyPr>
          <a:lstStyle/>
          <a:p>
            <a:pPr algn="l">
              <a:lnSpc>
                <a:spcPct val="100000"/>
              </a:lnSpc>
              <a:buNone/>
            </a:pPr>
            <a:r>
              <a:rPr lang="en-US" sz="1100" b="1">
                <a:solidFill>
                  <a:srgbClr val="312C2A"/>
                </a:solidFill>
                <a:latin typeface="Arial"/>
                <a:cs typeface="Arial"/>
              </a:rPr>
              <a:t>CARB123</a:t>
            </a:r>
          </a:p>
        </p:txBody>
      </p:sp>
      <p:sp>
        <p:nvSpPr>
          <p:cNvPr id="79" name="Text 79"/>
          <p:cNvSpPr txBox="1"/>
          <p:nvPr/>
        </p:nvSpPr>
        <p:spPr>
          <a:xfrm>
            <a:off x="8275320" y="3419856"/>
            <a:ext cx="1463040" cy="219456"/>
          </a:xfrm>
          <a:prstGeom prst="rect">
            <a:avLst/>
          </a:prstGeom>
          <a:noFill/>
        </p:spPr>
        <p:txBody>
          <a:bodyPr wrap="square" lIns="0" tIns="0" rIns="0" bIns="0" anchor="t">
            <a:normAutofit/>
          </a:bodyPr>
          <a:lstStyle/>
          <a:p>
            <a:pPr algn="l">
              <a:lnSpc>
                <a:spcPct val="100000"/>
              </a:lnSpc>
              <a:buNone/>
            </a:pPr>
            <a:r>
              <a:rPr lang="en-US" sz="1100" b="0">
                <a:solidFill>
                  <a:srgbClr val="312C2A"/>
                </a:solidFill>
                <a:latin typeface="Arial"/>
                <a:cs typeface="Arial"/>
              </a:rPr>
              <a:t>4</a:t>
            </a:r>
          </a:p>
        </p:txBody>
      </p:sp>
      <p:sp>
        <p:nvSpPr>
          <p:cNvPr id="80" name="Text 80"/>
          <p:cNvSpPr txBox="1"/>
          <p:nvPr/>
        </p:nvSpPr>
        <p:spPr>
          <a:xfrm>
            <a:off x="9784080" y="3419856"/>
            <a:ext cx="1280160" cy="219456"/>
          </a:xfrm>
          <a:prstGeom prst="rect">
            <a:avLst/>
          </a:prstGeom>
          <a:noFill/>
        </p:spPr>
        <p:txBody>
          <a:bodyPr wrap="square" lIns="0" tIns="0" rIns="0" bIns="0" anchor="t">
            <a:normAutofit/>
          </a:bodyPr>
          <a:lstStyle/>
          <a:p>
            <a:pPr algn="r">
              <a:lnSpc>
                <a:spcPct val="100000"/>
              </a:lnSpc>
              <a:buNone/>
            </a:pPr>
            <a:r>
              <a:rPr lang="en-US" sz="1100" b="1">
                <a:solidFill>
                  <a:srgbClr val="312C2A"/>
                </a:solidFill>
                <a:latin typeface="Arial"/>
                <a:cs typeface="Arial"/>
              </a:rPr>
              <a:t>90.3%</a:t>
            </a:r>
          </a:p>
        </p:txBody>
      </p:sp>
      <p:sp>
        <p:nvSpPr>
          <p:cNvPr id="81" name="Rect 81"/>
          <p:cNvSpPr/>
          <p:nvPr/>
        </p:nvSpPr>
        <p:spPr>
          <a:xfrm>
            <a:off x="6263640" y="3749040"/>
            <a:ext cx="5006340" cy="475488"/>
          </a:xfrm>
          <a:prstGeom prst="rect">
            <a:avLst/>
          </a:prstGeom>
          <a:solidFill>
            <a:srgbClr val="FFFFFF"/>
          </a:solidFill>
          <a:ln>
            <a:noFill/>
          </a:ln>
        </p:spPr>
        <p:txBody>
          <a:bodyPr/>
          <a:lstStyle/>
          <a:p>
            <a:endParaRPr lang="en-US"/>
          </a:p>
        </p:txBody>
      </p:sp>
      <p:sp>
        <p:nvSpPr>
          <p:cNvPr id="82" name="Rect 82"/>
          <p:cNvSpPr/>
          <p:nvPr/>
        </p:nvSpPr>
        <p:spPr>
          <a:xfrm>
            <a:off x="6263640" y="4219956"/>
            <a:ext cx="5006340" cy="7315"/>
          </a:xfrm>
          <a:prstGeom prst="rect">
            <a:avLst/>
          </a:prstGeom>
          <a:solidFill>
            <a:srgbClr val="D5CFC9"/>
          </a:solidFill>
          <a:ln>
            <a:noFill/>
          </a:ln>
        </p:spPr>
        <p:txBody>
          <a:bodyPr/>
          <a:lstStyle/>
          <a:p>
            <a:endParaRPr lang="en-US"/>
          </a:p>
        </p:txBody>
      </p:sp>
      <p:sp>
        <p:nvSpPr>
          <p:cNvPr id="83" name="Text 83"/>
          <p:cNvSpPr txBox="1"/>
          <p:nvPr/>
        </p:nvSpPr>
        <p:spPr>
          <a:xfrm>
            <a:off x="6464808" y="3895344"/>
            <a:ext cx="1737360" cy="219456"/>
          </a:xfrm>
          <a:prstGeom prst="rect">
            <a:avLst/>
          </a:prstGeom>
          <a:noFill/>
        </p:spPr>
        <p:txBody>
          <a:bodyPr wrap="square" lIns="0" tIns="0" rIns="0" bIns="0" anchor="t">
            <a:normAutofit/>
          </a:bodyPr>
          <a:lstStyle/>
          <a:p>
            <a:pPr algn="l">
              <a:lnSpc>
                <a:spcPct val="100000"/>
              </a:lnSpc>
              <a:buNone/>
            </a:pPr>
            <a:r>
              <a:rPr lang="en-US" sz="1100" b="1">
                <a:solidFill>
                  <a:srgbClr val="312C2A"/>
                </a:solidFill>
                <a:latin typeface="Arial"/>
                <a:cs typeface="Arial"/>
              </a:rPr>
              <a:t>BIND567</a:t>
            </a:r>
          </a:p>
        </p:txBody>
      </p:sp>
      <p:sp>
        <p:nvSpPr>
          <p:cNvPr id="84" name="Text 84"/>
          <p:cNvSpPr txBox="1"/>
          <p:nvPr/>
        </p:nvSpPr>
        <p:spPr>
          <a:xfrm>
            <a:off x="8275320" y="3895344"/>
            <a:ext cx="1463040" cy="219456"/>
          </a:xfrm>
          <a:prstGeom prst="rect">
            <a:avLst/>
          </a:prstGeom>
          <a:noFill/>
        </p:spPr>
        <p:txBody>
          <a:bodyPr wrap="square" lIns="0" tIns="0" rIns="0" bIns="0" anchor="t">
            <a:normAutofit/>
          </a:bodyPr>
          <a:lstStyle/>
          <a:p>
            <a:pPr algn="l">
              <a:lnSpc>
                <a:spcPct val="100000"/>
              </a:lnSpc>
              <a:buNone/>
            </a:pPr>
            <a:r>
              <a:rPr lang="en-US" sz="1100" b="0">
                <a:solidFill>
                  <a:srgbClr val="312C2A"/>
                </a:solidFill>
                <a:latin typeface="Arial"/>
                <a:cs typeface="Arial"/>
              </a:rPr>
              <a:t>1</a:t>
            </a:r>
          </a:p>
        </p:txBody>
      </p:sp>
      <p:sp>
        <p:nvSpPr>
          <p:cNvPr id="85" name="Text 85"/>
          <p:cNvSpPr txBox="1"/>
          <p:nvPr/>
        </p:nvSpPr>
        <p:spPr>
          <a:xfrm>
            <a:off x="9784080" y="3895344"/>
            <a:ext cx="1280160" cy="219456"/>
          </a:xfrm>
          <a:prstGeom prst="rect">
            <a:avLst/>
          </a:prstGeom>
          <a:noFill/>
        </p:spPr>
        <p:txBody>
          <a:bodyPr wrap="square" lIns="0" tIns="0" rIns="0" bIns="0" anchor="t">
            <a:normAutofit/>
          </a:bodyPr>
          <a:lstStyle/>
          <a:p>
            <a:pPr algn="r">
              <a:lnSpc>
                <a:spcPct val="100000"/>
              </a:lnSpc>
              <a:buNone/>
            </a:pPr>
            <a:r>
              <a:rPr lang="en-US" sz="1100" b="1">
                <a:solidFill>
                  <a:srgbClr val="312C2A"/>
                </a:solidFill>
                <a:latin typeface="Arial"/>
                <a:cs typeface="Arial"/>
              </a:rPr>
              <a:t>99.0%</a:t>
            </a:r>
          </a:p>
        </p:txBody>
      </p:sp>
      <p:sp>
        <p:nvSpPr>
          <p:cNvPr id="86" name="Text 86"/>
          <p:cNvSpPr txBox="1"/>
          <p:nvPr/>
        </p:nvSpPr>
        <p:spPr>
          <a:xfrm>
            <a:off x="6263640" y="4498848"/>
            <a:ext cx="5029200" cy="237744"/>
          </a:xfrm>
          <a:prstGeom prst="rect">
            <a:avLst/>
          </a:prstGeom>
          <a:noFill/>
        </p:spPr>
        <p:txBody>
          <a:bodyPr wrap="square" lIns="0" tIns="0" rIns="0" bIns="0" anchor="t">
            <a:normAutofit/>
          </a:bodyPr>
          <a:lstStyle/>
          <a:p>
            <a:pPr algn="l">
              <a:lnSpc>
                <a:spcPct val="100000"/>
              </a:lnSpc>
              <a:buNone/>
            </a:pPr>
            <a:r>
              <a:rPr lang="en-US" sz="1200" b="1">
                <a:solidFill>
                  <a:srgbClr val="312C2A"/>
                </a:solidFill>
                <a:latin typeface="Arial"/>
                <a:cs typeface="Arial"/>
              </a:rPr>
              <a:t>Supplier performance snapshot</a:t>
            </a:r>
          </a:p>
        </p:txBody>
      </p:sp>
      <p:sp>
        <p:nvSpPr>
          <p:cNvPr id="87" name="Text 87"/>
          <p:cNvSpPr txBox="1"/>
          <p:nvPr/>
        </p:nvSpPr>
        <p:spPr>
          <a:xfrm>
            <a:off x="6263640" y="4846320"/>
            <a:ext cx="2103120" cy="201168"/>
          </a:xfrm>
          <a:prstGeom prst="rect">
            <a:avLst/>
          </a:prstGeom>
          <a:noFill/>
        </p:spPr>
        <p:txBody>
          <a:bodyPr wrap="square" lIns="0" tIns="0" rIns="0" bIns="0" anchor="t">
            <a:normAutofit/>
          </a:bodyPr>
          <a:lstStyle/>
          <a:p>
            <a:pPr algn="l">
              <a:lnSpc>
                <a:spcPct val="100000"/>
              </a:lnSpc>
              <a:buNone/>
            </a:pPr>
            <a:r>
              <a:rPr lang="en-US" sz="1050" b="1">
                <a:solidFill>
                  <a:srgbClr val="312C2A"/>
                </a:solidFill>
                <a:latin typeface="Arial"/>
                <a:cs typeface="Arial"/>
              </a:rPr>
              <a:t>NextGen Pharma</a:t>
            </a:r>
          </a:p>
        </p:txBody>
      </p:sp>
      <p:sp>
        <p:nvSpPr>
          <p:cNvPr id="88" name="Text 88"/>
          <p:cNvSpPr txBox="1"/>
          <p:nvPr/>
        </p:nvSpPr>
        <p:spPr>
          <a:xfrm>
            <a:off x="8412480" y="4846320"/>
            <a:ext cx="2880360" cy="201168"/>
          </a:xfrm>
          <a:prstGeom prst="rect">
            <a:avLst/>
          </a:prstGeom>
          <a:noFill/>
        </p:spPr>
        <p:txBody>
          <a:bodyPr wrap="square" lIns="0" tIns="0" rIns="0" bIns="0" anchor="t">
            <a:normAutofit/>
          </a:bodyPr>
          <a:lstStyle/>
          <a:p>
            <a:pPr algn="r">
              <a:lnSpc>
                <a:spcPct val="100000"/>
              </a:lnSpc>
              <a:buNone/>
            </a:pPr>
            <a:r>
              <a:rPr lang="en-US" sz="1000" b="0">
                <a:solidFill>
                  <a:srgbClr val="6E6259"/>
                </a:solidFill>
                <a:latin typeface="Arial"/>
                <a:cs typeface="Arial"/>
              </a:rPr>
              <a:t>91.5% on-time  ·  2.22% defects  ·  10.7 days</a:t>
            </a:r>
          </a:p>
        </p:txBody>
      </p:sp>
      <p:sp>
        <p:nvSpPr>
          <p:cNvPr id="89" name="Rect 89"/>
          <p:cNvSpPr/>
          <p:nvPr/>
        </p:nvSpPr>
        <p:spPr>
          <a:xfrm>
            <a:off x="6263640" y="5102352"/>
            <a:ext cx="5006340" cy="7315"/>
          </a:xfrm>
          <a:prstGeom prst="rect">
            <a:avLst/>
          </a:prstGeom>
          <a:solidFill>
            <a:srgbClr val="D5CFC9"/>
          </a:solidFill>
          <a:ln>
            <a:noFill/>
          </a:ln>
        </p:spPr>
        <p:txBody>
          <a:bodyPr/>
          <a:lstStyle/>
          <a:p>
            <a:endParaRPr lang="en-US"/>
          </a:p>
        </p:txBody>
      </p:sp>
      <p:sp>
        <p:nvSpPr>
          <p:cNvPr id="90" name="Text 90"/>
          <p:cNvSpPr txBox="1"/>
          <p:nvPr/>
        </p:nvSpPr>
        <p:spPr>
          <a:xfrm>
            <a:off x="6263640" y="5212080"/>
            <a:ext cx="2103120" cy="201168"/>
          </a:xfrm>
          <a:prstGeom prst="rect">
            <a:avLst/>
          </a:prstGeom>
          <a:noFill/>
        </p:spPr>
        <p:txBody>
          <a:bodyPr wrap="square" lIns="0" tIns="0" rIns="0" bIns="0" anchor="t">
            <a:normAutofit/>
          </a:bodyPr>
          <a:lstStyle/>
          <a:p>
            <a:pPr algn="l">
              <a:lnSpc>
                <a:spcPct val="100000"/>
              </a:lnSpc>
              <a:buNone/>
            </a:pPr>
            <a:r>
              <a:rPr lang="en-US" sz="1050" b="1">
                <a:solidFill>
                  <a:srgbClr val="312C2A"/>
                </a:solidFill>
                <a:latin typeface="Arial"/>
                <a:cs typeface="Arial"/>
              </a:rPr>
              <a:t>GlobalChem</a:t>
            </a:r>
          </a:p>
        </p:txBody>
      </p:sp>
      <p:sp>
        <p:nvSpPr>
          <p:cNvPr id="91" name="Text 91"/>
          <p:cNvSpPr txBox="1"/>
          <p:nvPr/>
        </p:nvSpPr>
        <p:spPr>
          <a:xfrm>
            <a:off x="8412480" y="5212080"/>
            <a:ext cx="2880360" cy="201168"/>
          </a:xfrm>
          <a:prstGeom prst="rect">
            <a:avLst/>
          </a:prstGeom>
          <a:noFill/>
        </p:spPr>
        <p:txBody>
          <a:bodyPr wrap="square" lIns="0" tIns="0" rIns="0" bIns="0" anchor="t">
            <a:normAutofit/>
          </a:bodyPr>
          <a:lstStyle/>
          <a:p>
            <a:pPr algn="r">
              <a:lnSpc>
                <a:spcPct val="100000"/>
              </a:lnSpc>
              <a:buNone/>
            </a:pPr>
            <a:r>
              <a:rPr lang="en-US" sz="1000" b="0">
                <a:solidFill>
                  <a:srgbClr val="6E6259"/>
                </a:solidFill>
                <a:latin typeface="Arial"/>
                <a:cs typeface="Arial"/>
              </a:rPr>
              <a:t>90.9% on-time  ·  2.57% defects  ·  16.4 days</a:t>
            </a:r>
          </a:p>
        </p:txBody>
      </p:sp>
      <p:sp>
        <p:nvSpPr>
          <p:cNvPr id="92" name="Rect 92"/>
          <p:cNvSpPr/>
          <p:nvPr/>
        </p:nvSpPr>
        <p:spPr>
          <a:xfrm>
            <a:off x="6263640" y="5468112"/>
            <a:ext cx="5006340" cy="7315"/>
          </a:xfrm>
          <a:prstGeom prst="rect">
            <a:avLst/>
          </a:prstGeom>
          <a:solidFill>
            <a:srgbClr val="D5CFC9"/>
          </a:solidFill>
          <a:ln>
            <a:noFill/>
          </a:ln>
        </p:spPr>
        <p:txBody>
          <a:bodyPr/>
          <a:lstStyle/>
          <a:p>
            <a:endParaRPr lang="en-US"/>
          </a:p>
        </p:txBody>
      </p:sp>
      <p:sp>
        <p:nvSpPr>
          <p:cNvPr id="93" name="Text 93"/>
          <p:cNvSpPr txBox="1"/>
          <p:nvPr/>
        </p:nvSpPr>
        <p:spPr>
          <a:xfrm>
            <a:off x="6263640" y="5577840"/>
            <a:ext cx="2103120" cy="201168"/>
          </a:xfrm>
          <a:prstGeom prst="rect">
            <a:avLst/>
          </a:prstGeom>
          <a:noFill/>
        </p:spPr>
        <p:txBody>
          <a:bodyPr wrap="square" lIns="0" tIns="0" rIns="0" bIns="0" anchor="t">
            <a:normAutofit/>
          </a:bodyPr>
          <a:lstStyle/>
          <a:p>
            <a:pPr algn="l">
              <a:lnSpc>
                <a:spcPct val="100000"/>
              </a:lnSpc>
              <a:buNone/>
            </a:pPr>
            <a:r>
              <a:rPr lang="en-US" sz="1050" b="1">
                <a:solidFill>
                  <a:srgbClr val="312C2A"/>
                </a:solidFill>
                <a:latin typeface="Arial"/>
                <a:cs typeface="Arial"/>
              </a:rPr>
              <a:t>EcoSupply</a:t>
            </a:r>
          </a:p>
        </p:txBody>
      </p:sp>
      <p:sp>
        <p:nvSpPr>
          <p:cNvPr id="94" name="Text 94"/>
          <p:cNvSpPr txBox="1"/>
          <p:nvPr/>
        </p:nvSpPr>
        <p:spPr>
          <a:xfrm>
            <a:off x="8412480" y="5577840"/>
            <a:ext cx="2880360" cy="201168"/>
          </a:xfrm>
          <a:prstGeom prst="rect">
            <a:avLst/>
          </a:prstGeom>
          <a:noFill/>
        </p:spPr>
        <p:txBody>
          <a:bodyPr wrap="square" lIns="0" tIns="0" rIns="0" bIns="0" anchor="t">
            <a:normAutofit/>
          </a:bodyPr>
          <a:lstStyle/>
          <a:p>
            <a:pPr algn="r">
              <a:lnSpc>
                <a:spcPct val="100000"/>
              </a:lnSpc>
              <a:buNone/>
            </a:pPr>
            <a:r>
              <a:rPr lang="en-US" sz="1000" b="0">
                <a:solidFill>
                  <a:srgbClr val="6E6259"/>
                </a:solidFill>
                <a:latin typeface="Arial"/>
                <a:cs typeface="Arial"/>
              </a:rPr>
              <a:t>87.9% on-time  ·  2.50% defects  ·  15.0 days</a:t>
            </a:r>
          </a:p>
        </p:txBody>
      </p:sp>
      <p:sp>
        <p:nvSpPr>
          <p:cNvPr id="95" name="Rect 95"/>
          <p:cNvSpPr/>
          <p:nvPr/>
        </p:nvSpPr>
        <p:spPr>
          <a:xfrm>
            <a:off x="6263640" y="5833872"/>
            <a:ext cx="5006340" cy="7315"/>
          </a:xfrm>
          <a:prstGeom prst="rect">
            <a:avLst/>
          </a:prstGeom>
          <a:solidFill>
            <a:srgbClr val="D5CFC9"/>
          </a:solidFill>
          <a:ln>
            <a:noFill/>
          </a:ln>
        </p:spPr>
        <p:txBody>
          <a:bodyPr/>
          <a:lstStyle/>
          <a:p>
            <a:endParaRPr lang="en-US"/>
          </a:p>
        </p:txBody>
      </p:sp>
      <p:pic>
        <p:nvPicPr>
          <p:cNvPr id="96" name="Logo">
            <a:extLst>
              <a:ext uri="{FF2B5EF4-FFF2-40B4-BE49-F238E27FC236}">
                <a16:creationId xmlns:a16="http://schemas.microsoft.com/office/drawing/2014/main" id="{FA2F5845-3D0E-4710-AE90-A5390EEE0F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113" y="6448421"/>
            <a:ext cx="1580087" cy="146304"/>
          </a:xfrm>
          <a:prstGeom prst="rect">
            <a:avLst/>
          </a:prstGeom>
        </p:spPr>
      </p:pic>
      <p:sp>
        <p:nvSpPr>
          <p:cNvPr id="97" name="Text 97"/>
          <p:cNvSpPr txBox="1"/>
          <p:nvPr/>
        </p:nvSpPr>
        <p:spPr>
          <a:xfrm>
            <a:off x="6400800" y="6419088"/>
            <a:ext cx="4937760" cy="201168"/>
          </a:xfrm>
          <a:prstGeom prst="rect">
            <a:avLst/>
          </a:prstGeom>
          <a:noFill/>
        </p:spPr>
        <p:txBody>
          <a:bodyPr wrap="square" lIns="0" tIns="0" rIns="0" bIns="0" anchor="t">
            <a:normAutofit/>
          </a:bodyPr>
          <a:lstStyle/>
          <a:p>
            <a:pPr algn="r">
              <a:lnSpc>
                <a:spcPct val="100000"/>
              </a:lnSpc>
              <a:buNone/>
            </a:pPr>
            <a:r>
              <a:rPr lang="en-US" sz="800" b="0">
                <a:solidFill>
                  <a:srgbClr val="6E6259"/>
                </a:solidFill>
                <a:latin typeface="Arial"/>
                <a:cs typeface="Arial"/>
              </a:rPr>
              <a:t>Supply Chain Issue Compliance Report  |  Data Insights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Rect 98"/>
          <p:cNvSpPr/>
          <p:nvPr/>
        </p:nvSpPr>
        <p:spPr>
          <a:xfrm>
            <a:off x="914400" y="566928"/>
            <a:ext cx="566928" cy="50292"/>
          </a:xfrm>
          <a:prstGeom prst="rect">
            <a:avLst/>
          </a:prstGeom>
          <a:solidFill>
            <a:srgbClr val="EB1700"/>
          </a:solidFill>
          <a:ln>
            <a:noFill/>
          </a:ln>
        </p:spPr>
        <p:txBody>
          <a:bodyPr/>
          <a:lstStyle/>
          <a:p>
            <a:endParaRPr lang="en-US"/>
          </a:p>
        </p:txBody>
      </p:sp>
      <p:sp>
        <p:nvSpPr>
          <p:cNvPr id="99" name="Text 99"/>
          <p:cNvSpPr txBox="1"/>
          <p:nvPr/>
        </p:nvSpPr>
        <p:spPr>
          <a:xfrm>
            <a:off x="914400" y="749808"/>
            <a:ext cx="9601200" cy="274320"/>
          </a:xfrm>
          <a:prstGeom prst="rect">
            <a:avLst/>
          </a:prstGeom>
          <a:noFill/>
        </p:spPr>
        <p:txBody>
          <a:bodyPr wrap="square" lIns="0" tIns="0" rIns="0" bIns="0" anchor="t">
            <a:normAutofit/>
          </a:bodyPr>
          <a:lstStyle/>
          <a:p>
            <a:pPr algn="l">
              <a:lnSpc>
                <a:spcPct val="100000"/>
              </a:lnSpc>
              <a:buNone/>
            </a:pPr>
            <a:r>
              <a:rPr lang="en-US" sz="1050" b="0">
                <a:solidFill>
                  <a:srgbClr val="6E6259"/>
                </a:solidFill>
                <a:latin typeface="Arial"/>
                <a:cs typeface="Arial"/>
              </a:rPr>
              <a:t>03  |  Mitigation strategies</a:t>
            </a:r>
          </a:p>
        </p:txBody>
      </p:sp>
      <p:sp>
        <p:nvSpPr>
          <p:cNvPr id="100" name="Text 100"/>
          <p:cNvSpPr txBox="1"/>
          <p:nvPr/>
        </p:nvSpPr>
        <p:spPr>
          <a:xfrm>
            <a:off x="914400" y="1078992"/>
            <a:ext cx="10332720" cy="685800"/>
          </a:xfrm>
          <a:prstGeom prst="rect">
            <a:avLst/>
          </a:prstGeom>
          <a:noFill/>
        </p:spPr>
        <p:txBody>
          <a:bodyPr wrap="square" lIns="0" tIns="0" rIns="0" bIns="0" anchor="t">
            <a:normAutofit/>
          </a:bodyPr>
          <a:lstStyle/>
          <a:p>
            <a:pPr algn="l">
              <a:lnSpc>
                <a:spcPct val="100000"/>
              </a:lnSpc>
              <a:buNone/>
            </a:pPr>
            <a:r>
              <a:rPr lang="en-US" sz="2800" b="1">
                <a:solidFill>
                  <a:srgbClr val="EB1700"/>
                </a:solidFill>
                <a:latin typeface="Arial"/>
                <a:cs typeface="Arial"/>
              </a:rPr>
              <a:t>Proposed Solutions</a:t>
            </a:r>
          </a:p>
        </p:txBody>
      </p:sp>
      <p:sp>
        <p:nvSpPr>
          <p:cNvPr id="101" name="Rect 101"/>
          <p:cNvSpPr/>
          <p:nvPr/>
        </p:nvSpPr>
        <p:spPr>
          <a:xfrm>
            <a:off x="914400" y="1847088"/>
            <a:ext cx="10355580" cy="10973"/>
          </a:xfrm>
          <a:prstGeom prst="rect">
            <a:avLst/>
          </a:prstGeom>
          <a:solidFill>
            <a:srgbClr val="D5CFC9"/>
          </a:solidFill>
          <a:ln>
            <a:noFill/>
          </a:ln>
        </p:spPr>
        <p:txBody>
          <a:bodyPr/>
          <a:lstStyle/>
          <a:p>
            <a:endParaRPr lang="en-US"/>
          </a:p>
        </p:txBody>
      </p:sp>
      <p:sp>
        <p:nvSpPr>
          <p:cNvPr id="102" name="Rect 102"/>
          <p:cNvSpPr/>
          <p:nvPr/>
        </p:nvSpPr>
        <p:spPr>
          <a:xfrm>
            <a:off x="914400" y="2212848"/>
            <a:ext cx="3268980" cy="1965960"/>
          </a:xfrm>
          <a:prstGeom prst="rect">
            <a:avLst/>
          </a:prstGeom>
          <a:solidFill>
            <a:srgbClr val="F1EFED"/>
          </a:solidFill>
          <a:ln>
            <a:noFill/>
          </a:ln>
        </p:spPr>
        <p:txBody>
          <a:bodyPr/>
          <a:lstStyle/>
          <a:p>
            <a:endParaRPr lang="en-US"/>
          </a:p>
        </p:txBody>
      </p:sp>
      <p:sp>
        <p:nvSpPr>
          <p:cNvPr id="103" name="Text 103"/>
          <p:cNvSpPr txBox="1"/>
          <p:nvPr/>
        </p:nvSpPr>
        <p:spPr>
          <a:xfrm>
            <a:off x="1188720" y="2432304"/>
            <a:ext cx="548640" cy="292608"/>
          </a:xfrm>
          <a:prstGeom prst="rect">
            <a:avLst/>
          </a:prstGeom>
          <a:noFill/>
        </p:spPr>
        <p:txBody>
          <a:bodyPr wrap="square" lIns="0" tIns="0" rIns="0" bIns="0" anchor="t">
            <a:normAutofit/>
          </a:bodyPr>
          <a:lstStyle/>
          <a:p>
            <a:pPr algn="l">
              <a:lnSpc>
                <a:spcPct val="100000"/>
              </a:lnSpc>
              <a:buNone/>
            </a:pPr>
            <a:r>
              <a:rPr lang="en-US" sz="1500" b="1">
                <a:solidFill>
                  <a:srgbClr val="EB1700"/>
                </a:solidFill>
                <a:latin typeface="Arial"/>
                <a:cs typeface="Arial"/>
              </a:rPr>
              <a:t>01</a:t>
            </a:r>
          </a:p>
        </p:txBody>
      </p:sp>
      <p:sp>
        <p:nvSpPr>
          <p:cNvPr id="104" name="Text 104"/>
          <p:cNvSpPr txBox="1"/>
          <p:nvPr/>
        </p:nvSpPr>
        <p:spPr>
          <a:xfrm>
            <a:off x="1188720" y="2798064"/>
            <a:ext cx="2720340" cy="457200"/>
          </a:xfrm>
          <a:prstGeom prst="rect">
            <a:avLst/>
          </a:prstGeom>
          <a:noFill/>
        </p:spPr>
        <p:txBody>
          <a:bodyPr wrap="square" lIns="0" tIns="0" rIns="0" bIns="0" anchor="t">
            <a:normAutofit/>
          </a:bodyPr>
          <a:lstStyle/>
          <a:p>
            <a:pPr algn="l">
              <a:lnSpc>
                <a:spcPct val="115000"/>
              </a:lnSpc>
              <a:buNone/>
            </a:pPr>
            <a:r>
              <a:rPr lang="en-US" sz="1150" b="1">
                <a:solidFill>
                  <a:srgbClr val="312C2A"/>
                </a:solidFill>
                <a:latin typeface="Arial"/>
                <a:cs typeface="Arial"/>
              </a:rPr>
              <a:t>Prioritise COAT890 recovery</a:t>
            </a:r>
          </a:p>
        </p:txBody>
      </p:sp>
      <p:sp>
        <p:nvSpPr>
          <p:cNvPr id="105" name="Text 105"/>
          <p:cNvSpPr txBox="1"/>
          <p:nvPr/>
        </p:nvSpPr>
        <p:spPr>
          <a:xfrm>
            <a:off x="1188720" y="3291840"/>
            <a:ext cx="2720340" cy="822960"/>
          </a:xfrm>
          <a:prstGeom prst="rect">
            <a:avLst/>
          </a:prstGeom>
          <a:noFill/>
        </p:spPr>
        <p:txBody>
          <a:bodyPr wrap="square" lIns="0" tIns="0" rIns="0" bIns="0" anchor="t">
            <a:normAutofit/>
          </a:bodyPr>
          <a:lstStyle/>
          <a:p>
            <a:pPr algn="l">
              <a:lnSpc>
                <a:spcPct val="126000"/>
              </a:lnSpc>
              <a:buNone/>
            </a:pPr>
            <a:r>
              <a:rPr lang="en-US" sz="950" b="0">
                <a:solidFill>
                  <a:srgbClr val="6E6259"/>
                </a:solidFill>
                <a:latin typeface="Arial"/>
                <a:cs typeface="Arial"/>
              </a:rPr>
              <a:t>Review supplier commitments, lead-time variance, inspection results, and backorder drivers, then set a recovery plan with named owners and dates.</a:t>
            </a:r>
          </a:p>
        </p:txBody>
      </p:sp>
      <p:sp>
        <p:nvSpPr>
          <p:cNvPr id="106" name="Rect 106"/>
          <p:cNvSpPr/>
          <p:nvPr/>
        </p:nvSpPr>
        <p:spPr>
          <a:xfrm>
            <a:off x="4457700" y="2212848"/>
            <a:ext cx="3268980" cy="1965960"/>
          </a:xfrm>
          <a:prstGeom prst="rect">
            <a:avLst/>
          </a:prstGeom>
          <a:solidFill>
            <a:srgbClr val="F1EFED"/>
          </a:solidFill>
          <a:ln>
            <a:noFill/>
          </a:ln>
        </p:spPr>
        <p:txBody>
          <a:bodyPr/>
          <a:lstStyle/>
          <a:p>
            <a:endParaRPr lang="en-US"/>
          </a:p>
        </p:txBody>
      </p:sp>
      <p:sp>
        <p:nvSpPr>
          <p:cNvPr id="107" name="Text 107"/>
          <p:cNvSpPr txBox="1"/>
          <p:nvPr/>
        </p:nvSpPr>
        <p:spPr>
          <a:xfrm>
            <a:off x="4732020" y="2432304"/>
            <a:ext cx="548640" cy="292608"/>
          </a:xfrm>
          <a:prstGeom prst="rect">
            <a:avLst/>
          </a:prstGeom>
          <a:noFill/>
        </p:spPr>
        <p:txBody>
          <a:bodyPr wrap="square" lIns="0" tIns="0" rIns="0" bIns="0" anchor="t">
            <a:normAutofit/>
          </a:bodyPr>
          <a:lstStyle/>
          <a:p>
            <a:pPr algn="l">
              <a:lnSpc>
                <a:spcPct val="100000"/>
              </a:lnSpc>
              <a:buNone/>
            </a:pPr>
            <a:r>
              <a:rPr lang="en-US" sz="1500" b="1">
                <a:solidFill>
                  <a:srgbClr val="EB1700"/>
                </a:solidFill>
                <a:latin typeface="Arial"/>
                <a:cs typeface="Arial"/>
              </a:rPr>
              <a:t>02</a:t>
            </a:r>
          </a:p>
        </p:txBody>
      </p:sp>
      <p:sp>
        <p:nvSpPr>
          <p:cNvPr id="108" name="Text 108"/>
          <p:cNvSpPr txBox="1"/>
          <p:nvPr/>
        </p:nvSpPr>
        <p:spPr>
          <a:xfrm>
            <a:off x="4732020" y="2798064"/>
            <a:ext cx="2720340" cy="457200"/>
          </a:xfrm>
          <a:prstGeom prst="rect">
            <a:avLst/>
          </a:prstGeom>
          <a:noFill/>
        </p:spPr>
        <p:txBody>
          <a:bodyPr wrap="square" lIns="0" tIns="0" rIns="0" bIns="0" anchor="t">
            <a:normAutofit/>
          </a:bodyPr>
          <a:lstStyle/>
          <a:p>
            <a:pPr algn="l">
              <a:lnSpc>
                <a:spcPct val="115000"/>
              </a:lnSpc>
              <a:buNone/>
            </a:pPr>
            <a:r>
              <a:rPr lang="en-US" sz="1150" b="1">
                <a:solidFill>
                  <a:srgbClr val="312C2A"/>
                </a:solidFill>
                <a:latin typeface="Arial"/>
                <a:cs typeface="Arial"/>
              </a:rPr>
              <a:t>Recalibrate risk classification</a:t>
            </a:r>
          </a:p>
        </p:txBody>
      </p:sp>
      <p:sp>
        <p:nvSpPr>
          <p:cNvPr id="109" name="Text 109"/>
          <p:cNvSpPr txBox="1"/>
          <p:nvPr/>
        </p:nvSpPr>
        <p:spPr>
          <a:xfrm>
            <a:off x="4732020" y="3291840"/>
            <a:ext cx="2720340" cy="822960"/>
          </a:xfrm>
          <a:prstGeom prst="rect">
            <a:avLst/>
          </a:prstGeom>
          <a:noFill/>
        </p:spPr>
        <p:txBody>
          <a:bodyPr wrap="square" lIns="0" tIns="0" rIns="0" bIns="0" anchor="t">
            <a:normAutofit/>
          </a:bodyPr>
          <a:lstStyle/>
          <a:p>
            <a:pPr algn="l">
              <a:lnSpc>
                <a:spcPct val="126000"/>
              </a:lnSpc>
              <a:buNone/>
            </a:pPr>
            <a:r>
              <a:rPr lang="en-US" sz="950" b="0">
                <a:solidFill>
                  <a:srgbClr val="6E6259"/>
                </a:solidFill>
                <a:latin typeface="Arial"/>
                <a:cs typeface="Arial"/>
              </a:rPr>
              <a:t>Re-score medium-risk components with long delivery timelines, or add monitoring triggers where scores stay unchanged.</a:t>
            </a:r>
          </a:p>
        </p:txBody>
      </p:sp>
      <p:sp>
        <p:nvSpPr>
          <p:cNvPr id="110" name="Rect 110"/>
          <p:cNvSpPr/>
          <p:nvPr/>
        </p:nvSpPr>
        <p:spPr>
          <a:xfrm>
            <a:off x="8001000" y="2212848"/>
            <a:ext cx="3268980" cy="1965960"/>
          </a:xfrm>
          <a:prstGeom prst="rect">
            <a:avLst/>
          </a:prstGeom>
          <a:solidFill>
            <a:srgbClr val="F1EFED"/>
          </a:solidFill>
          <a:ln>
            <a:noFill/>
          </a:ln>
        </p:spPr>
        <p:txBody>
          <a:bodyPr/>
          <a:lstStyle/>
          <a:p>
            <a:endParaRPr lang="en-US"/>
          </a:p>
        </p:txBody>
      </p:sp>
      <p:sp>
        <p:nvSpPr>
          <p:cNvPr id="111" name="Text 111"/>
          <p:cNvSpPr txBox="1"/>
          <p:nvPr/>
        </p:nvSpPr>
        <p:spPr>
          <a:xfrm>
            <a:off x="8275320" y="2432304"/>
            <a:ext cx="548640" cy="292608"/>
          </a:xfrm>
          <a:prstGeom prst="rect">
            <a:avLst/>
          </a:prstGeom>
          <a:noFill/>
        </p:spPr>
        <p:txBody>
          <a:bodyPr wrap="square" lIns="0" tIns="0" rIns="0" bIns="0" anchor="t">
            <a:normAutofit/>
          </a:bodyPr>
          <a:lstStyle/>
          <a:p>
            <a:pPr algn="l">
              <a:lnSpc>
                <a:spcPct val="100000"/>
              </a:lnSpc>
              <a:buNone/>
            </a:pPr>
            <a:r>
              <a:rPr lang="en-US" sz="1500" b="1">
                <a:solidFill>
                  <a:srgbClr val="EB1700"/>
                </a:solidFill>
                <a:latin typeface="Arial"/>
                <a:cs typeface="Arial"/>
              </a:rPr>
              <a:t>03</a:t>
            </a:r>
          </a:p>
        </p:txBody>
      </p:sp>
      <p:sp>
        <p:nvSpPr>
          <p:cNvPr id="112" name="Text 112"/>
          <p:cNvSpPr txBox="1"/>
          <p:nvPr/>
        </p:nvSpPr>
        <p:spPr>
          <a:xfrm>
            <a:off x="8275320" y="2798064"/>
            <a:ext cx="2720340" cy="457200"/>
          </a:xfrm>
          <a:prstGeom prst="rect">
            <a:avLst/>
          </a:prstGeom>
          <a:noFill/>
        </p:spPr>
        <p:txBody>
          <a:bodyPr wrap="square" lIns="0" tIns="0" rIns="0" bIns="0" anchor="t">
            <a:normAutofit/>
          </a:bodyPr>
          <a:lstStyle/>
          <a:p>
            <a:pPr algn="l">
              <a:lnSpc>
                <a:spcPct val="115000"/>
              </a:lnSpc>
              <a:buNone/>
            </a:pPr>
            <a:r>
              <a:rPr lang="en-US" sz="1150" b="1">
                <a:solidFill>
                  <a:srgbClr val="312C2A"/>
                </a:solidFill>
                <a:latin typeface="Arial"/>
                <a:cs typeface="Arial"/>
              </a:rPr>
              <a:t>Strengthen supplier governance</a:t>
            </a:r>
          </a:p>
        </p:txBody>
      </p:sp>
      <p:sp>
        <p:nvSpPr>
          <p:cNvPr id="113" name="Text 113"/>
          <p:cNvSpPr txBox="1"/>
          <p:nvPr/>
        </p:nvSpPr>
        <p:spPr>
          <a:xfrm>
            <a:off x="8275320" y="3291840"/>
            <a:ext cx="2720340" cy="822960"/>
          </a:xfrm>
          <a:prstGeom prst="rect">
            <a:avLst/>
          </a:prstGeom>
          <a:noFill/>
        </p:spPr>
        <p:txBody>
          <a:bodyPr wrap="square" lIns="0" tIns="0" rIns="0" bIns="0" anchor="t">
            <a:normAutofit/>
          </a:bodyPr>
          <a:lstStyle/>
          <a:p>
            <a:pPr algn="l">
              <a:lnSpc>
                <a:spcPct val="126000"/>
              </a:lnSpc>
              <a:buNone/>
            </a:pPr>
            <a:r>
              <a:rPr lang="en-US" sz="950" b="0">
                <a:solidFill>
                  <a:srgbClr val="6E6259"/>
                </a:solidFill>
                <a:latin typeface="Arial"/>
                <a:cs typeface="Arial"/>
              </a:rPr>
              <a:t>Introduce periodic scorecards covering on-time delivery, reliability, defect rate, inspection pass rate, forecast accuracy, and backorders.</a:t>
            </a:r>
          </a:p>
        </p:txBody>
      </p:sp>
      <p:sp>
        <p:nvSpPr>
          <p:cNvPr id="114" name="Rect 114"/>
          <p:cNvSpPr/>
          <p:nvPr/>
        </p:nvSpPr>
        <p:spPr>
          <a:xfrm>
            <a:off x="914400" y="4315968"/>
            <a:ext cx="3268980" cy="1664208"/>
          </a:xfrm>
          <a:prstGeom prst="rect">
            <a:avLst/>
          </a:prstGeom>
          <a:solidFill>
            <a:srgbClr val="F1EFED"/>
          </a:solidFill>
          <a:ln>
            <a:noFill/>
          </a:ln>
        </p:spPr>
        <p:txBody>
          <a:bodyPr/>
          <a:lstStyle/>
          <a:p>
            <a:endParaRPr lang="en-US"/>
          </a:p>
        </p:txBody>
      </p:sp>
      <p:sp>
        <p:nvSpPr>
          <p:cNvPr id="115" name="Text 115"/>
          <p:cNvSpPr txBox="1"/>
          <p:nvPr/>
        </p:nvSpPr>
        <p:spPr>
          <a:xfrm>
            <a:off x="1188720" y="4562856"/>
            <a:ext cx="548640" cy="292608"/>
          </a:xfrm>
          <a:prstGeom prst="rect">
            <a:avLst/>
          </a:prstGeom>
          <a:noFill/>
        </p:spPr>
        <p:txBody>
          <a:bodyPr wrap="square" lIns="0" tIns="0" rIns="0" bIns="0" anchor="t">
            <a:normAutofit/>
          </a:bodyPr>
          <a:lstStyle/>
          <a:p>
            <a:pPr algn="l">
              <a:lnSpc>
                <a:spcPct val="100000"/>
              </a:lnSpc>
              <a:buNone/>
            </a:pPr>
            <a:r>
              <a:rPr lang="en-US" sz="1500" b="1">
                <a:solidFill>
                  <a:srgbClr val="EB1700"/>
                </a:solidFill>
                <a:latin typeface="Arial"/>
                <a:cs typeface="Arial"/>
              </a:rPr>
              <a:t>04</a:t>
            </a:r>
          </a:p>
        </p:txBody>
      </p:sp>
      <p:sp>
        <p:nvSpPr>
          <p:cNvPr id="116" name="Text 116"/>
          <p:cNvSpPr txBox="1"/>
          <p:nvPr/>
        </p:nvSpPr>
        <p:spPr>
          <a:xfrm>
            <a:off x="1188720" y="4910328"/>
            <a:ext cx="2720340" cy="457200"/>
          </a:xfrm>
          <a:prstGeom prst="rect">
            <a:avLst/>
          </a:prstGeom>
          <a:noFill/>
        </p:spPr>
        <p:txBody>
          <a:bodyPr wrap="square" lIns="0" tIns="0" rIns="0" bIns="0" anchor="t">
            <a:normAutofit/>
          </a:bodyPr>
          <a:lstStyle/>
          <a:p>
            <a:pPr algn="l">
              <a:lnSpc>
                <a:spcPct val="115000"/>
              </a:lnSpc>
              <a:buNone/>
            </a:pPr>
            <a:r>
              <a:rPr lang="en-US" sz="1150" b="1">
                <a:solidFill>
                  <a:srgbClr val="312C2A"/>
                </a:solidFill>
                <a:latin typeface="Arial"/>
                <a:cs typeface="Arial"/>
              </a:rPr>
              <a:t>Optimise inventory and safety stock</a:t>
            </a:r>
          </a:p>
        </p:txBody>
      </p:sp>
      <p:sp>
        <p:nvSpPr>
          <p:cNvPr id="117" name="Text 117"/>
          <p:cNvSpPr txBox="1"/>
          <p:nvPr/>
        </p:nvSpPr>
        <p:spPr>
          <a:xfrm>
            <a:off x="1188720" y="5340096"/>
            <a:ext cx="2720340" cy="548640"/>
          </a:xfrm>
          <a:prstGeom prst="rect">
            <a:avLst/>
          </a:prstGeom>
          <a:noFill/>
        </p:spPr>
        <p:txBody>
          <a:bodyPr wrap="square" lIns="0" tIns="0" rIns="0" bIns="0" anchor="t">
            <a:normAutofit/>
          </a:bodyPr>
          <a:lstStyle/>
          <a:p>
            <a:pPr algn="l">
              <a:lnSpc>
                <a:spcPct val="126000"/>
              </a:lnSpc>
              <a:buNone/>
            </a:pPr>
            <a:r>
              <a:rPr lang="en-US" sz="950" b="0">
                <a:solidFill>
                  <a:srgbClr val="6E6259"/>
                </a:solidFill>
                <a:latin typeface="Arial"/>
                <a:cs typeface="Arial"/>
              </a:rPr>
              <a:t>Adjust reorder points and safety stock for components with high usage rates, long timelines, or recurring delays.</a:t>
            </a:r>
          </a:p>
        </p:txBody>
      </p:sp>
      <p:sp>
        <p:nvSpPr>
          <p:cNvPr id="118" name="Rect 118"/>
          <p:cNvSpPr/>
          <p:nvPr/>
        </p:nvSpPr>
        <p:spPr>
          <a:xfrm>
            <a:off x="4457700" y="4315968"/>
            <a:ext cx="3268980" cy="1664208"/>
          </a:xfrm>
          <a:prstGeom prst="rect">
            <a:avLst/>
          </a:prstGeom>
          <a:solidFill>
            <a:srgbClr val="F1EFED"/>
          </a:solidFill>
          <a:ln>
            <a:noFill/>
          </a:ln>
        </p:spPr>
        <p:txBody>
          <a:bodyPr/>
          <a:lstStyle/>
          <a:p>
            <a:endParaRPr lang="en-US"/>
          </a:p>
        </p:txBody>
      </p:sp>
      <p:sp>
        <p:nvSpPr>
          <p:cNvPr id="119" name="Text 119"/>
          <p:cNvSpPr txBox="1"/>
          <p:nvPr/>
        </p:nvSpPr>
        <p:spPr>
          <a:xfrm>
            <a:off x="4732020" y="4562856"/>
            <a:ext cx="548640" cy="292608"/>
          </a:xfrm>
          <a:prstGeom prst="rect">
            <a:avLst/>
          </a:prstGeom>
          <a:noFill/>
        </p:spPr>
        <p:txBody>
          <a:bodyPr wrap="square" lIns="0" tIns="0" rIns="0" bIns="0" anchor="t">
            <a:normAutofit/>
          </a:bodyPr>
          <a:lstStyle/>
          <a:p>
            <a:pPr algn="l">
              <a:lnSpc>
                <a:spcPct val="100000"/>
              </a:lnSpc>
              <a:buNone/>
            </a:pPr>
            <a:r>
              <a:rPr lang="en-US" sz="1500" b="1">
                <a:solidFill>
                  <a:srgbClr val="EB1700"/>
                </a:solidFill>
                <a:latin typeface="Arial"/>
                <a:cs typeface="Arial"/>
              </a:rPr>
              <a:t>05</a:t>
            </a:r>
          </a:p>
        </p:txBody>
      </p:sp>
      <p:sp>
        <p:nvSpPr>
          <p:cNvPr id="120" name="Text 120"/>
          <p:cNvSpPr txBox="1"/>
          <p:nvPr/>
        </p:nvSpPr>
        <p:spPr>
          <a:xfrm>
            <a:off x="4732020" y="4910328"/>
            <a:ext cx="2720340" cy="457200"/>
          </a:xfrm>
          <a:prstGeom prst="rect">
            <a:avLst/>
          </a:prstGeom>
          <a:noFill/>
        </p:spPr>
        <p:txBody>
          <a:bodyPr wrap="square" lIns="0" tIns="0" rIns="0" bIns="0" anchor="t">
            <a:normAutofit/>
          </a:bodyPr>
          <a:lstStyle/>
          <a:p>
            <a:pPr algn="l">
              <a:lnSpc>
                <a:spcPct val="115000"/>
              </a:lnSpc>
              <a:buNone/>
            </a:pPr>
            <a:r>
              <a:rPr lang="en-US" sz="1150" b="1">
                <a:solidFill>
                  <a:srgbClr val="312C2A"/>
                </a:solidFill>
                <a:latin typeface="Arial"/>
                <a:cs typeface="Arial"/>
              </a:rPr>
              <a:t>Reduce expedite dependency</a:t>
            </a:r>
          </a:p>
        </p:txBody>
      </p:sp>
      <p:sp>
        <p:nvSpPr>
          <p:cNvPr id="121" name="Text 121"/>
          <p:cNvSpPr txBox="1"/>
          <p:nvPr/>
        </p:nvSpPr>
        <p:spPr>
          <a:xfrm>
            <a:off x="4732020" y="5340096"/>
            <a:ext cx="2720340" cy="548640"/>
          </a:xfrm>
          <a:prstGeom prst="rect">
            <a:avLst/>
          </a:prstGeom>
          <a:noFill/>
        </p:spPr>
        <p:txBody>
          <a:bodyPr wrap="square" lIns="0" tIns="0" rIns="0" bIns="0" anchor="t">
            <a:normAutofit/>
          </a:bodyPr>
          <a:lstStyle/>
          <a:p>
            <a:pPr algn="l">
              <a:lnSpc>
                <a:spcPct val="126000"/>
              </a:lnSpc>
              <a:buNone/>
            </a:pPr>
            <a:r>
              <a:rPr lang="en-US" sz="950" b="0">
                <a:solidFill>
                  <a:srgbClr val="6E6259"/>
                </a:solidFill>
                <a:latin typeface="Arial"/>
                <a:cs typeface="Arial"/>
              </a:rPr>
              <a:t>Reserve expedited shipping for confirmed critical shortages; resolve structural gaps through contract reviews and alternative sourcing.</a:t>
            </a:r>
          </a:p>
        </p:txBody>
      </p:sp>
      <p:sp>
        <p:nvSpPr>
          <p:cNvPr id="122" name="Rect 122"/>
          <p:cNvSpPr/>
          <p:nvPr/>
        </p:nvSpPr>
        <p:spPr>
          <a:xfrm>
            <a:off x="8001000" y="4315968"/>
            <a:ext cx="3268980" cy="1664208"/>
          </a:xfrm>
          <a:prstGeom prst="rect">
            <a:avLst/>
          </a:prstGeom>
          <a:solidFill>
            <a:srgbClr val="EB1700"/>
          </a:solidFill>
          <a:ln>
            <a:noFill/>
          </a:ln>
        </p:spPr>
        <p:txBody>
          <a:bodyPr/>
          <a:lstStyle/>
          <a:p>
            <a:endParaRPr lang="en-US"/>
          </a:p>
        </p:txBody>
      </p:sp>
      <p:sp>
        <p:nvSpPr>
          <p:cNvPr id="123" name="Text 123"/>
          <p:cNvSpPr txBox="1"/>
          <p:nvPr/>
        </p:nvSpPr>
        <p:spPr>
          <a:xfrm>
            <a:off x="8275320" y="4599432"/>
            <a:ext cx="2720340" cy="365760"/>
          </a:xfrm>
          <a:prstGeom prst="rect">
            <a:avLst/>
          </a:prstGeom>
          <a:noFill/>
        </p:spPr>
        <p:txBody>
          <a:bodyPr wrap="square" lIns="0" tIns="0" rIns="0" bIns="0" anchor="t">
            <a:normAutofit/>
          </a:bodyPr>
          <a:lstStyle/>
          <a:p>
            <a:pPr algn="l">
              <a:lnSpc>
                <a:spcPct val="100000"/>
              </a:lnSpc>
              <a:buNone/>
            </a:pPr>
            <a:r>
              <a:rPr lang="en-US" sz="1150" b="1">
                <a:solidFill>
                  <a:srgbClr val="FFFFFF"/>
                </a:solidFill>
                <a:latin typeface="Arial"/>
                <a:cs typeface="Arial"/>
              </a:rPr>
              <a:t>Compliance outcome</a:t>
            </a:r>
          </a:p>
        </p:txBody>
      </p:sp>
      <p:sp>
        <p:nvSpPr>
          <p:cNvPr id="124" name="Text 124"/>
          <p:cNvSpPr txBox="1"/>
          <p:nvPr/>
        </p:nvSpPr>
        <p:spPr>
          <a:xfrm>
            <a:off x="8275320" y="5029200"/>
            <a:ext cx="2720340" cy="914400"/>
          </a:xfrm>
          <a:prstGeom prst="rect">
            <a:avLst/>
          </a:prstGeom>
          <a:noFill/>
        </p:spPr>
        <p:txBody>
          <a:bodyPr wrap="square" lIns="0" tIns="0" rIns="0" bIns="0" anchor="t">
            <a:normAutofit/>
          </a:bodyPr>
          <a:lstStyle/>
          <a:p>
            <a:pPr algn="l">
              <a:lnSpc>
                <a:spcPct val="130000"/>
              </a:lnSpc>
              <a:buNone/>
            </a:pPr>
            <a:r>
              <a:rPr lang="en-US" sz="1050" b="0">
                <a:solidFill>
                  <a:srgbClr val="FFFFFF"/>
                </a:solidFill>
                <a:latin typeface="Arial"/>
                <a:cs typeface="Arial"/>
              </a:rPr>
              <a:t>Documented supplier reviews, corrective actions, and risk-based decisions that stand up to inspection.</a:t>
            </a:r>
          </a:p>
        </p:txBody>
      </p:sp>
      <p:pic>
        <p:nvPicPr>
          <p:cNvPr id="125" name="Logo">
            <a:extLst>
              <a:ext uri="{FF2B5EF4-FFF2-40B4-BE49-F238E27FC236}">
                <a16:creationId xmlns:a16="http://schemas.microsoft.com/office/drawing/2014/main" id="{E2CF69EE-0085-4E0C-AC0F-0E339975D0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113" y="6448421"/>
            <a:ext cx="1580087" cy="146304"/>
          </a:xfrm>
          <a:prstGeom prst="rect">
            <a:avLst/>
          </a:prstGeom>
        </p:spPr>
      </p:pic>
      <p:sp>
        <p:nvSpPr>
          <p:cNvPr id="126" name="Text 126"/>
          <p:cNvSpPr txBox="1"/>
          <p:nvPr/>
        </p:nvSpPr>
        <p:spPr>
          <a:xfrm>
            <a:off x="6400800" y="6419088"/>
            <a:ext cx="4937760" cy="201168"/>
          </a:xfrm>
          <a:prstGeom prst="rect">
            <a:avLst/>
          </a:prstGeom>
          <a:noFill/>
        </p:spPr>
        <p:txBody>
          <a:bodyPr wrap="square" lIns="0" tIns="0" rIns="0" bIns="0" anchor="t">
            <a:normAutofit/>
          </a:bodyPr>
          <a:lstStyle/>
          <a:p>
            <a:pPr algn="r">
              <a:lnSpc>
                <a:spcPct val="100000"/>
              </a:lnSpc>
              <a:buNone/>
            </a:pPr>
            <a:r>
              <a:rPr lang="en-US" sz="800" b="0">
                <a:solidFill>
                  <a:srgbClr val="6E6259"/>
                </a:solidFill>
                <a:latin typeface="Arial"/>
                <a:cs typeface="Arial"/>
              </a:rPr>
              <a:t>Supply Chain Issue Compliance Report  |  Proposed Solutions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7" name="Rect 127"/>
          <p:cNvSpPr/>
          <p:nvPr/>
        </p:nvSpPr>
        <p:spPr>
          <a:xfrm>
            <a:off x="914400" y="566928"/>
            <a:ext cx="566928" cy="50292"/>
          </a:xfrm>
          <a:prstGeom prst="rect">
            <a:avLst/>
          </a:prstGeom>
          <a:solidFill>
            <a:srgbClr val="EB1700"/>
          </a:solidFill>
          <a:ln>
            <a:noFill/>
          </a:ln>
        </p:spPr>
        <p:txBody>
          <a:bodyPr/>
          <a:lstStyle/>
          <a:p>
            <a:endParaRPr lang="en-US"/>
          </a:p>
        </p:txBody>
      </p:sp>
      <p:sp>
        <p:nvSpPr>
          <p:cNvPr id="128" name="Text 128"/>
          <p:cNvSpPr txBox="1"/>
          <p:nvPr/>
        </p:nvSpPr>
        <p:spPr>
          <a:xfrm>
            <a:off x="914400" y="749808"/>
            <a:ext cx="9601200" cy="274320"/>
          </a:xfrm>
          <a:prstGeom prst="rect">
            <a:avLst/>
          </a:prstGeom>
          <a:noFill/>
        </p:spPr>
        <p:txBody>
          <a:bodyPr wrap="square" lIns="0" tIns="0" rIns="0" bIns="0" anchor="t">
            <a:normAutofit/>
          </a:bodyPr>
          <a:lstStyle/>
          <a:p>
            <a:pPr algn="l">
              <a:lnSpc>
                <a:spcPct val="100000"/>
              </a:lnSpc>
              <a:buNone/>
            </a:pPr>
            <a:r>
              <a:rPr lang="en-US" sz="1050" b="0">
                <a:solidFill>
                  <a:srgbClr val="6E6259"/>
                </a:solidFill>
                <a:latin typeface="Arial"/>
                <a:cs typeface="Arial"/>
              </a:rPr>
              <a:t>04  |  Phased rollout</a:t>
            </a:r>
          </a:p>
        </p:txBody>
      </p:sp>
      <p:sp>
        <p:nvSpPr>
          <p:cNvPr id="129" name="Text 129"/>
          <p:cNvSpPr txBox="1"/>
          <p:nvPr/>
        </p:nvSpPr>
        <p:spPr>
          <a:xfrm>
            <a:off x="914400" y="1078992"/>
            <a:ext cx="10332720" cy="685800"/>
          </a:xfrm>
          <a:prstGeom prst="rect">
            <a:avLst/>
          </a:prstGeom>
          <a:noFill/>
        </p:spPr>
        <p:txBody>
          <a:bodyPr wrap="square" lIns="0" tIns="0" rIns="0" bIns="0" anchor="t">
            <a:normAutofit/>
          </a:bodyPr>
          <a:lstStyle/>
          <a:p>
            <a:pPr algn="l">
              <a:lnSpc>
                <a:spcPct val="100000"/>
              </a:lnSpc>
              <a:buNone/>
            </a:pPr>
            <a:r>
              <a:rPr lang="en-US" sz="2800" b="1">
                <a:solidFill>
                  <a:srgbClr val="EB1700"/>
                </a:solidFill>
                <a:latin typeface="Arial"/>
                <a:cs typeface="Arial"/>
              </a:rPr>
              <a:t>Implementation Plan</a:t>
            </a:r>
          </a:p>
        </p:txBody>
      </p:sp>
      <p:sp>
        <p:nvSpPr>
          <p:cNvPr id="130" name="Rect 130"/>
          <p:cNvSpPr/>
          <p:nvPr/>
        </p:nvSpPr>
        <p:spPr>
          <a:xfrm>
            <a:off x="914400" y="1847088"/>
            <a:ext cx="10355580" cy="10973"/>
          </a:xfrm>
          <a:prstGeom prst="rect">
            <a:avLst/>
          </a:prstGeom>
          <a:solidFill>
            <a:srgbClr val="D5CFC9"/>
          </a:solidFill>
          <a:ln>
            <a:noFill/>
          </a:ln>
        </p:spPr>
        <p:txBody>
          <a:bodyPr/>
          <a:lstStyle/>
          <a:p>
            <a:endParaRPr lang="en-US"/>
          </a:p>
        </p:txBody>
      </p:sp>
      <p:sp>
        <p:nvSpPr>
          <p:cNvPr id="131" name="Rect 131"/>
          <p:cNvSpPr/>
          <p:nvPr/>
        </p:nvSpPr>
        <p:spPr>
          <a:xfrm>
            <a:off x="914400" y="2148840"/>
            <a:ext cx="10355580" cy="365760"/>
          </a:xfrm>
          <a:prstGeom prst="rect">
            <a:avLst/>
          </a:prstGeom>
          <a:solidFill>
            <a:srgbClr val="312C2A"/>
          </a:solidFill>
          <a:ln>
            <a:noFill/>
          </a:ln>
        </p:spPr>
        <p:txBody>
          <a:bodyPr/>
          <a:lstStyle/>
          <a:p>
            <a:endParaRPr lang="en-US"/>
          </a:p>
        </p:txBody>
      </p:sp>
      <p:sp>
        <p:nvSpPr>
          <p:cNvPr id="132" name="Text 132"/>
          <p:cNvSpPr txBox="1"/>
          <p:nvPr/>
        </p:nvSpPr>
        <p:spPr>
          <a:xfrm>
            <a:off x="1143000" y="2249424"/>
            <a:ext cx="1508760" cy="219456"/>
          </a:xfrm>
          <a:prstGeom prst="rect">
            <a:avLst/>
          </a:prstGeom>
          <a:noFill/>
        </p:spPr>
        <p:txBody>
          <a:bodyPr wrap="square" lIns="0" tIns="0" rIns="0" bIns="0" anchor="t">
            <a:normAutofit/>
          </a:bodyPr>
          <a:lstStyle/>
          <a:p>
            <a:pPr algn="l">
              <a:lnSpc>
                <a:spcPct val="100000"/>
              </a:lnSpc>
              <a:buNone/>
            </a:pPr>
            <a:r>
              <a:rPr lang="en-US" sz="1000" b="1">
                <a:solidFill>
                  <a:srgbClr val="FFFFFF"/>
                </a:solidFill>
                <a:latin typeface="Arial"/>
                <a:cs typeface="Arial"/>
              </a:rPr>
              <a:t>Phase</a:t>
            </a:r>
          </a:p>
        </p:txBody>
      </p:sp>
      <p:sp>
        <p:nvSpPr>
          <p:cNvPr id="133" name="Text 133"/>
          <p:cNvSpPr txBox="1"/>
          <p:nvPr/>
        </p:nvSpPr>
        <p:spPr>
          <a:xfrm>
            <a:off x="2743200" y="2249424"/>
            <a:ext cx="3291840" cy="219456"/>
          </a:xfrm>
          <a:prstGeom prst="rect">
            <a:avLst/>
          </a:prstGeom>
          <a:noFill/>
        </p:spPr>
        <p:txBody>
          <a:bodyPr wrap="square" lIns="0" tIns="0" rIns="0" bIns="0" anchor="t">
            <a:normAutofit/>
          </a:bodyPr>
          <a:lstStyle/>
          <a:p>
            <a:pPr algn="l">
              <a:lnSpc>
                <a:spcPct val="100000"/>
              </a:lnSpc>
              <a:buNone/>
            </a:pPr>
            <a:r>
              <a:rPr lang="en-US" sz="1000" b="1">
                <a:solidFill>
                  <a:srgbClr val="FFFFFF"/>
                </a:solidFill>
                <a:latin typeface="Arial"/>
                <a:cs typeface="Arial"/>
              </a:rPr>
              <a:t>Focus</a:t>
            </a:r>
          </a:p>
        </p:txBody>
      </p:sp>
      <p:sp>
        <p:nvSpPr>
          <p:cNvPr id="134" name="Text 134"/>
          <p:cNvSpPr txBox="1"/>
          <p:nvPr/>
        </p:nvSpPr>
        <p:spPr>
          <a:xfrm>
            <a:off x="5989320" y="2249424"/>
            <a:ext cx="3794760" cy="219456"/>
          </a:xfrm>
          <a:prstGeom prst="rect">
            <a:avLst/>
          </a:prstGeom>
          <a:noFill/>
        </p:spPr>
        <p:txBody>
          <a:bodyPr wrap="square" lIns="0" tIns="0" rIns="0" bIns="0" anchor="t">
            <a:normAutofit/>
          </a:bodyPr>
          <a:lstStyle/>
          <a:p>
            <a:pPr algn="l">
              <a:lnSpc>
                <a:spcPct val="100000"/>
              </a:lnSpc>
              <a:buNone/>
            </a:pPr>
            <a:r>
              <a:rPr lang="en-US" sz="1000" b="1">
                <a:solidFill>
                  <a:srgbClr val="FFFFFF"/>
                </a:solidFill>
                <a:latin typeface="Arial"/>
                <a:cs typeface="Arial"/>
              </a:rPr>
              <a:t>Key actions</a:t>
            </a:r>
          </a:p>
        </p:txBody>
      </p:sp>
      <p:sp>
        <p:nvSpPr>
          <p:cNvPr id="135" name="Text 135"/>
          <p:cNvSpPr txBox="1"/>
          <p:nvPr/>
        </p:nvSpPr>
        <p:spPr>
          <a:xfrm>
            <a:off x="9966960" y="2249424"/>
            <a:ext cx="1280160" cy="219456"/>
          </a:xfrm>
          <a:prstGeom prst="rect">
            <a:avLst/>
          </a:prstGeom>
          <a:noFill/>
        </p:spPr>
        <p:txBody>
          <a:bodyPr wrap="square" lIns="0" tIns="0" rIns="0" bIns="0" anchor="t">
            <a:normAutofit/>
          </a:bodyPr>
          <a:lstStyle/>
          <a:p>
            <a:pPr algn="l">
              <a:lnSpc>
                <a:spcPct val="100000"/>
              </a:lnSpc>
              <a:buNone/>
            </a:pPr>
            <a:r>
              <a:rPr lang="en-US" sz="1000" b="1">
                <a:solidFill>
                  <a:srgbClr val="FFFFFF"/>
                </a:solidFill>
                <a:latin typeface="Arial"/>
                <a:cs typeface="Arial"/>
              </a:rPr>
              <a:t>Owner</a:t>
            </a:r>
          </a:p>
        </p:txBody>
      </p:sp>
      <p:sp>
        <p:nvSpPr>
          <p:cNvPr id="136" name="Rect 136"/>
          <p:cNvSpPr/>
          <p:nvPr/>
        </p:nvSpPr>
        <p:spPr>
          <a:xfrm>
            <a:off x="914400" y="2514600"/>
            <a:ext cx="10355580" cy="658368"/>
          </a:xfrm>
          <a:prstGeom prst="rect">
            <a:avLst/>
          </a:prstGeom>
          <a:solidFill>
            <a:srgbClr val="F1EFED"/>
          </a:solidFill>
          <a:ln>
            <a:noFill/>
          </a:ln>
        </p:spPr>
        <p:txBody>
          <a:bodyPr/>
          <a:lstStyle/>
          <a:p>
            <a:endParaRPr lang="en-US"/>
          </a:p>
        </p:txBody>
      </p:sp>
      <p:sp>
        <p:nvSpPr>
          <p:cNvPr id="137" name="Text 137"/>
          <p:cNvSpPr txBox="1"/>
          <p:nvPr/>
        </p:nvSpPr>
        <p:spPr>
          <a:xfrm>
            <a:off x="1143000" y="2642616"/>
            <a:ext cx="1508760" cy="457200"/>
          </a:xfrm>
          <a:prstGeom prst="rect">
            <a:avLst/>
          </a:prstGeom>
          <a:noFill/>
        </p:spPr>
        <p:txBody>
          <a:bodyPr wrap="square" lIns="0" tIns="0" rIns="0" bIns="0" anchor="t">
            <a:normAutofit/>
          </a:bodyPr>
          <a:lstStyle/>
          <a:p>
            <a:pPr algn="l">
              <a:lnSpc>
                <a:spcPct val="115000"/>
              </a:lnSpc>
              <a:buNone/>
            </a:pPr>
            <a:r>
              <a:rPr lang="en-US" sz="1050" b="1">
                <a:solidFill>
                  <a:srgbClr val="EB1700"/>
                </a:solidFill>
                <a:latin typeface="Arial"/>
                <a:cs typeface="Arial"/>
              </a:rPr>
              <a:t>Phase 1</a:t>
            </a:r>
          </a:p>
          <a:p>
            <a:pPr algn="l">
              <a:lnSpc>
                <a:spcPct val="115000"/>
              </a:lnSpc>
              <a:buNone/>
            </a:pPr>
            <a:r>
              <a:rPr lang="en-US" sz="900" b="0">
                <a:solidFill>
                  <a:srgbClr val="6E6259"/>
                </a:solidFill>
                <a:latin typeface="Arial"/>
                <a:cs typeface="Arial"/>
              </a:rPr>
              <a:t>0–30 days</a:t>
            </a:r>
          </a:p>
        </p:txBody>
      </p:sp>
      <p:sp>
        <p:nvSpPr>
          <p:cNvPr id="138" name="Text 138"/>
          <p:cNvSpPr txBox="1"/>
          <p:nvPr/>
        </p:nvSpPr>
        <p:spPr>
          <a:xfrm>
            <a:off x="2743200" y="2734056"/>
            <a:ext cx="3200400" cy="365760"/>
          </a:xfrm>
          <a:prstGeom prst="rect">
            <a:avLst/>
          </a:prstGeom>
          <a:noFill/>
        </p:spPr>
        <p:txBody>
          <a:bodyPr wrap="square" lIns="0" tIns="0" rIns="0" bIns="0" anchor="t">
            <a:normAutofit/>
          </a:bodyPr>
          <a:lstStyle/>
          <a:p>
            <a:pPr algn="l">
              <a:lnSpc>
                <a:spcPct val="100000"/>
              </a:lnSpc>
              <a:buNone/>
            </a:pPr>
            <a:r>
              <a:rPr lang="en-US" sz="1100" b="1">
                <a:solidFill>
                  <a:srgbClr val="312C2A"/>
                </a:solidFill>
                <a:latin typeface="Arial"/>
                <a:cs typeface="Arial"/>
              </a:rPr>
              <a:t>COAT890 recovery</a:t>
            </a:r>
          </a:p>
        </p:txBody>
      </p:sp>
      <p:sp>
        <p:nvSpPr>
          <p:cNvPr id="139" name="Text 139"/>
          <p:cNvSpPr txBox="1"/>
          <p:nvPr/>
        </p:nvSpPr>
        <p:spPr>
          <a:xfrm>
            <a:off x="5989320" y="2642616"/>
            <a:ext cx="3749040" cy="502920"/>
          </a:xfrm>
          <a:prstGeom prst="rect">
            <a:avLst/>
          </a:prstGeom>
          <a:noFill/>
        </p:spPr>
        <p:txBody>
          <a:bodyPr wrap="square" lIns="0" tIns="0" rIns="0" bIns="0" anchor="t">
            <a:normAutofit lnSpcReduction="10000"/>
          </a:bodyPr>
          <a:lstStyle/>
          <a:p>
            <a:pPr algn="l">
              <a:lnSpc>
                <a:spcPct val="125000"/>
              </a:lnSpc>
              <a:buNone/>
            </a:pPr>
            <a:r>
              <a:rPr lang="en-US" sz="950" b="0">
                <a:solidFill>
                  <a:srgbClr val="6E6259"/>
                </a:solidFill>
                <a:latin typeface="Arial"/>
                <a:cs typeface="Arial"/>
              </a:rPr>
              <a:t>Component-level review of commitments, lead-time variance, inspection results and backorder drivers; recovery plan with owners and dates.</a:t>
            </a:r>
          </a:p>
        </p:txBody>
      </p:sp>
      <p:sp>
        <p:nvSpPr>
          <p:cNvPr id="140" name="Text 140"/>
          <p:cNvSpPr txBox="1"/>
          <p:nvPr/>
        </p:nvSpPr>
        <p:spPr>
          <a:xfrm>
            <a:off x="9966960" y="2734056"/>
            <a:ext cx="1325880" cy="365760"/>
          </a:xfrm>
          <a:prstGeom prst="rect">
            <a:avLst/>
          </a:prstGeom>
          <a:noFill/>
        </p:spPr>
        <p:txBody>
          <a:bodyPr wrap="square" lIns="0" tIns="0" rIns="0" bIns="0" anchor="t">
            <a:normAutofit/>
          </a:bodyPr>
          <a:lstStyle/>
          <a:p>
            <a:pPr algn="l">
              <a:lnSpc>
                <a:spcPct val="100000"/>
              </a:lnSpc>
              <a:buNone/>
            </a:pPr>
            <a:r>
              <a:rPr lang="en-US" sz="950" b="0">
                <a:solidFill>
                  <a:srgbClr val="312C2A"/>
                </a:solidFill>
                <a:latin typeface="Arial"/>
                <a:cs typeface="Arial"/>
              </a:rPr>
              <a:t>Supply Chain Ops</a:t>
            </a:r>
          </a:p>
        </p:txBody>
      </p:sp>
      <p:sp>
        <p:nvSpPr>
          <p:cNvPr id="141" name="Rect 141"/>
          <p:cNvSpPr/>
          <p:nvPr/>
        </p:nvSpPr>
        <p:spPr>
          <a:xfrm>
            <a:off x="914400" y="3172968"/>
            <a:ext cx="10355580" cy="658368"/>
          </a:xfrm>
          <a:prstGeom prst="rect">
            <a:avLst/>
          </a:prstGeom>
          <a:solidFill>
            <a:srgbClr val="FFFFFF"/>
          </a:solidFill>
          <a:ln>
            <a:noFill/>
          </a:ln>
        </p:spPr>
        <p:txBody>
          <a:bodyPr/>
          <a:lstStyle/>
          <a:p>
            <a:endParaRPr lang="en-US"/>
          </a:p>
        </p:txBody>
      </p:sp>
      <p:sp>
        <p:nvSpPr>
          <p:cNvPr id="142" name="Text 142"/>
          <p:cNvSpPr txBox="1"/>
          <p:nvPr/>
        </p:nvSpPr>
        <p:spPr>
          <a:xfrm>
            <a:off x="1143000" y="3300984"/>
            <a:ext cx="1508760" cy="457200"/>
          </a:xfrm>
          <a:prstGeom prst="rect">
            <a:avLst/>
          </a:prstGeom>
          <a:noFill/>
        </p:spPr>
        <p:txBody>
          <a:bodyPr wrap="square" lIns="0" tIns="0" rIns="0" bIns="0" anchor="t">
            <a:normAutofit/>
          </a:bodyPr>
          <a:lstStyle/>
          <a:p>
            <a:pPr algn="l">
              <a:lnSpc>
                <a:spcPct val="115000"/>
              </a:lnSpc>
              <a:buNone/>
            </a:pPr>
            <a:r>
              <a:rPr lang="en-US" sz="1050" b="1">
                <a:solidFill>
                  <a:srgbClr val="EB1700"/>
                </a:solidFill>
                <a:latin typeface="Arial"/>
                <a:cs typeface="Arial"/>
              </a:rPr>
              <a:t>Phase 2</a:t>
            </a:r>
          </a:p>
          <a:p>
            <a:pPr algn="l">
              <a:lnSpc>
                <a:spcPct val="115000"/>
              </a:lnSpc>
              <a:buNone/>
            </a:pPr>
            <a:r>
              <a:rPr lang="en-US" sz="900" b="0">
                <a:solidFill>
                  <a:srgbClr val="6E6259"/>
                </a:solidFill>
                <a:latin typeface="Arial"/>
                <a:cs typeface="Arial"/>
              </a:rPr>
              <a:t>30–60 days</a:t>
            </a:r>
          </a:p>
        </p:txBody>
      </p:sp>
      <p:sp>
        <p:nvSpPr>
          <p:cNvPr id="143" name="Text 143"/>
          <p:cNvSpPr txBox="1"/>
          <p:nvPr/>
        </p:nvSpPr>
        <p:spPr>
          <a:xfrm>
            <a:off x="2743200" y="3392424"/>
            <a:ext cx="3200400" cy="365760"/>
          </a:xfrm>
          <a:prstGeom prst="rect">
            <a:avLst/>
          </a:prstGeom>
          <a:noFill/>
        </p:spPr>
        <p:txBody>
          <a:bodyPr wrap="square" lIns="0" tIns="0" rIns="0" bIns="0" anchor="t">
            <a:normAutofit/>
          </a:bodyPr>
          <a:lstStyle/>
          <a:p>
            <a:pPr algn="l">
              <a:lnSpc>
                <a:spcPct val="100000"/>
              </a:lnSpc>
              <a:buNone/>
            </a:pPr>
            <a:r>
              <a:rPr lang="en-US" sz="1100" b="1">
                <a:solidFill>
                  <a:srgbClr val="312C2A"/>
                </a:solidFill>
                <a:latin typeface="Arial"/>
                <a:cs typeface="Arial"/>
              </a:rPr>
              <a:t>Risk re-scoring</a:t>
            </a:r>
          </a:p>
        </p:txBody>
      </p:sp>
      <p:sp>
        <p:nvSpPr>
          <p:cNvPr id="144" name="Text 144"/>
          <p:cNvSpPr txBox="1"/>
          <p:nvPr/>
        </p:nvSpPr>
        <p:spPr>
          <a:xfrm>
            <a:off x="5989320" y="3300984"/>
            <a:ext cx="3749040" cy="502920"/>
          </a:xfrm>
          <a:prstGeom prst="rect">
            <a:avLst/>
          </a:prstGeom>
          <a:noFill/>
        </p:spPr>
        <p:txBody>
          <a:bodyPr wrap="square" lIns="0" tIns="0" rIns="0" bIns="0" anchor="t">
            <a:normAutofit/>
          </a:bodyPr>
          <a:lstStyle/>
          <a:p>
            <a:pPr algn="l">
              <a:lnSpc>
                <a:spcPct val="125000"/>
              </a:lnSpc>
              <a:buNone/>
            </a:pPr>
            <a:r>
              <a:rPr lang="en-US" sz="950" b="0">
                <a:solidFill>
                  <a:srgbClr val="6E6259"/>
                </a:solidFill>
                <a:latin typeface="Arial"/>
                <a:cs typeface="Arial"/>
              </a:rPr>
              <a:t>Re-assess medium-risk components with long timelines; add monitoring triggers where scores remain unchanged.</a:t>
            </a:r>
          </a:p>
        </p:txBody>
      </p:sp>
      <p:sp>
        <p:nvSpPr>
          <p:cNvPr id="145" name="Text 145"/>
          <p:cNvSpPr txBox="1"/>
          <p:nvPr/>
        </p:nvSpPr>
        <p:spPr>
          <a:xfrm>
            <a:off x="9966960" y="3392424"/>
            <a:ext cx="1325880" cy="365760"/>
          </a:xfrm>
          <a:prstGeom prst="rect">
            <a:avLst/>
          </a:prstGeom>
          <a:noFill/>
        </p:spPr>
        <p:txBody>
          <a:bodyPr wrap="square" lIns="0" tIns="0" rIns="0" bIns="0" anchor="t">
            <a:normAutofit/>
          </a:bodyPr>
          <a:lstStyle/>
          <a:p>
            <a:pPr algn="l">
              <a:lnSpc>
                <a:spcPct val="100000"/>
              </a:lnSpc>
              <a:buNone/>
            </a:pPr>
            <a:r>
              <a:rPr lang="en-US" sz="950" b="0">
                <a:solidFill>
                  <a:srgbClr val="312C2A"/>
                </a:solidFill>
                <a:latin typeface="Arial"/>
                <a:cs typeface="Arial"/>
              </a:rPr>
              <a:t>Risk &amp; Compliance</a:t>
            </a:r>
          </a:p>
        </p:txBody>
      </p:sp>
      <p:sp>
        <p:nvSpPr>
          <p:cNvPr id="146" name="Rect 146"/>
          <p:cNvSpPr/>
          <p:nvPr/>
        </p:nvSpPr>
        <p:spPr>
          <a:xfrm>
            <a:off x="914400" y="3831336"/>
            <a:ext cx="10355580" cy="658368"/>
          </a:xfrm>
          <a:prstGeom prst="rect">
            <a:avLst/>
          </a:prstGeom>
          <a:solidFill>
            <a:srgbClr val="F1EFED"/>
          </a:solidFill>
          <a:ln>
            <a:noFill/>
          </a:ln>
        </p:spPr>
        <p:txBody>
          <a:bodyPr/>
          <a:lstStyle/>
          <a:p>
            <a:endParaRPr lang="en-US"/>
          </a:p>
        </p:txBody>
      </p:sp>
      <p:sp>
        <p:nvSpPr>
          <p:cNvPr id="147" name="Text 147"/>
          <p:cNvSpPr txBox="1"/>
          <p:nvPr/>
        </p:nvSpPr>
        <p:spPr>
          <a:xfrm>
            <a:off x="1143000" y="3959352"/>
            <a:ext cx="1508760" cy="457200"/>
          </a:xfrm>
          <a:prstGeom prst="rect">
            <a:avLst/>
          </a:prstGeom>
          <a:noFill/>
        </p:spPr>
        <p:txBody>
          <a:bodyPr wrap="square" lIns="0" tIns="0" rIns="0" bIns="0" anchor="t">
            <a:normAutofit/>
          </a:bodyPr>
          <a:lstStyle/>
          <a:p>
            <a:pPr algn="l">
              <a:lnSpc>
                <a:spcPct val="115000"/>
              </a:lnSpc>
              <a:buNone/>
            </a:pPr>
            <a:r>
              <a:rPr lang="en-US" sz="1050" b="1">
                <a:solidFill>
                  <a:srgbClr val="EB1700"/>
                </a:solidFill>
                <a:latin typeface="Arial"/>
                <a:cs typeface="Arial"/>
              </a:rPr>
              <a:t>Phase 3</a:t>
            </a:r>
          </a:p>
          <a:p>
            <a:pPr algn="l">
              <a:lnSpc>
                <a:spcPct val="115000"/>
              </a:lnSpc>
              <a:buNone/>
            </a:pPr>
            <a:r>
              <a:rPr lang="en-US" sz="900" b="0">
                <a:solidFill>
                  <a:srgbClr val="6E6259"/>
                </a:solidFill>
                <a:latin typeface="Arial"/>
                <a:cs typeface="Arial"/>
              </a:rPr>
              <a:t>60–90 days</a:t>
            </a:r>
          </a:p>
        </p:txBody>
      </p:sp>
      <p:sp>
        <p:nvSpPr>
          <p:cNvPr id="148" name="Text 148"/>
          <p:cNvSpPr txBox="1"/>
          <p:nvPr/>
        </p:nvSpPr>
        <p:spPr>
          <a:xfrm>
            <a:off x="2743200" y="4050792"/>
            <a:ext cx="3200400" cy="365760"/>
          </a:xfrm>
          <a:prstGeom prst="rect">
            <a:avLst/>
          </a:prstGeom>
          <a:noFill/>
        </p:spPr>
        <p:txBody>
          <a:bodyPr wrap="square" lIns="0" tIns="0" rIns="0" bIns="0" anchor="t">
            <a:normAutofit/>
          </a:bodyPr>
          <a:lstStyle/>
          <a:p>
            <a:pPr algn="l">
              <a:lnSpc>
                <a:spcPct val="100000"/>
              </a:lnSpc>
              <a:buNone/>
            </a:pPr>
            <a:r>
              <a:rPr lang="en-US" sz="1100" b="1">
                <a:solidFill>
                  <a:srgbClr val="312C2A"/>
                </a:solidFill>
                <a:latin typeface="Arial"/>
                <a:cs typeface="Arial"/>
              </a:rPr>
              <a:t>Supplier governance</a:t>
            </a:r>
          </a:p>
        </p:txBody>
      </p:sp>
      <p:sp>
        <p:nvSpPr>
          <p:cNvPr id="149" name="Text 149"/>
          <p:cNvSpPr txBox="1"/>
          <p:nvPr/>
        </p:nvSpPr>
        <p:spPr>
          <a:xfrm>
            <a:off x="5989320" y="3959352"/>
            <a:ext cx="3749040" cy="502920"/>
          </a:xfrm>
          <a:prstGeom prst="rect">
            <a:avLst/>
          </a:prstGeom>
          <a:noFill/>
        </p:spPr>
        <p:txBody>
          <a:bodyPr wrap="square" lIns="0" tIns="0" rIns="0" bIns="0" anchor="t">
            <a:normAutofit/>
          </a:bodyPr>
          <a:lstStyle/>
          <a:p>
            <a:pPr algn="l">
              <a:lnSpc>
                <a:spcPct val="125000"/>
              </a:lnSpc>
              <a:buNone/>
            </a:pPr>
            <a:r>
              <a:rPr lang="en-US" sz="950" b="0">
                <a:solidFill>
                  <a:srgbClr val="6E6259"/>
                </a:solidFill>
                <a:latin typeface="Arial"/>
                <a:cs typeface="Arial"/>
              </a:rPr>
              <a:t>Launch periodic supplier scorecards across delivery, reliability, defects, inspection pass rate, forecast accuracy and backorders.</a:t>
            </a:r>
          </a:p>
        </p:txBody>
      </p:sp>
      <p:sp>
        <p:nvSpPr>
          <p:cNvPr id="150" name="Text 150"/>
          <p:cNvSpPr txBox="1"/>
          <p:nvPr/>
        </p:nvSpPr>
        <p:spPr>
          <a:xfrm>
            <a:off x="9966960" y="4050792"/>
            <a:ext cx="1325880" cy="365760"/>
          </a:xfrm>
          <a:prstGeom prst="rect">
            <a:avLst/>
          </a:prstGeom>
          <a:noFill/>
        </p:spPr>
        <p:txBody>
          <a:bodyPr wrap="square" lIns="0" tIns="0" rIns="0" bIns="0" anchor="t">
            <a:normAutofit/>
          </a:bodyPr>
          <a:lstStyle/>
          <a:p>
            <a:pPr algn="l">
              <a:lnSpc>
                <a:spcPct val="100000"/>
              </a:lnSpc>
              <a:buNone/>
            </a:pPr>
            <a:r>
              <a:rPr lang="en-US" sz="950" b="0">
                <a:solidFill>
                  <a:srgbClr val="312C2A"/>
                </a:solidFill>
                <a:latin typeface="Arial"/>
                <a:cs typeface="Arial"/>
              </a:rPr>
              <a:t>Procurement</a:t>
            </a:r>
          </a:p>
        </p:txBody>
      </p:sp>
      <p:sp>
        <p:nvSpPr>
          <p:cNvPr id="151" name="Rect 151"/>
          <p:cNvSpPr/>
          <p:nvPr/>
        </p:nvSpPr>
        <p:spPr>
          <a:xfrm>
            <a:off x="914400" y="4489704"/>
            <a:ext cx="10355580" cy="658368"/>
          </a:xfrm>
          <a:prstGeom prst="rect">
            <a:avLst/>
          </a:prstGeom>
          <a:solidFill>
            <a:srgbClr val="FFFFFF"/>
          </a:solidFill>
          <a:ln>
            <a:noFill/>
          </a:ln>
        </p:spPr>
        <p:txBody>
          <a:bodyPr/>
          <a:lstStyle/>
          <a:p>
            <a:endParaRPr lang="en-US"/>
          </a:p>
        </p:txBody>
      </p:sp>
      <p:sp>
        <p:nvSpPr>
          <p:cNvPr id="152" name="Text 152"/>
          <p:cNvSpPr txBox="1"/>
          <p:nvPr/>
        </p:nvSpPr>
        <p:spPr>
          <a:xfrm>
            <a:off x="1143000" y="4617720"/>
            <a:ext cx="1508760" cy="457200"/>
          </a:xfrm>
          <a:prstGeom prst="rect">
            <a:avLst/>
          </a:prstGeom>
          <a:noFill/>
        </p:spPr>
        <p:txBody>
          <a:bodyPr wrap="square" lIns="0" tIns="0" rIns="0" bIns="0" anchor="t">
            <a:normAutofit/>
          </a:bodyPr>
          <a:lstStyle/>
          <a:p>
            <a:pPr algn="l">
              <a:lnSpc>
                <a:spcPct val="115000"/>
              </a:lnSpc>
              <a:buNone/>
            </a:pPr>
            <a:r>
              <a:rPr lang="en-US" sz="1050" b="1">
                <a:solidFill>
                  <a:srgbClr val="EB1700"/>
                </a:solidFill>
                <a:latin typeface="Arial"/>
                <a:cs typeface="Arial"/>
              </a:rPr>
              <a:t>Phase 4</a:t>
            </a:r>
          </a:p>
          <a:p>
            <a:pPr algn="l">
              <a:lnSpc>
                <a:spcPct val="115000"/>
              </a:lnSpc>
              <a:buNone/>
            </a:pPr>
            <a:r>
              <a:rPr lang="en-US" sz="900" b="0">
                <a:solidFill>
                  <a:srgbClr val="6E6259"/>
                </a:solidFill>
                <a:latin typeface="Arial"/>
                <a:cs typeface="Arial"/>
              </a:rPr>
              <a:t>90–120 days</a:t>
            </a:r>
          </a:p>
        </p:txBody>
      </p:sp>
      <p:sp>
        <p:nvSpPr>
          <p:cNvPr id="153" name="Text 153"/>
          <p:cNvSpPr txBox="1"/>
          <p:nvPr/>
        </p:nvSpPr>
        <p:spPr>
          <a:xfrm>
            <a:off x="2743200" y="4709160"/>
            <a:ext cx="3200400" cy="365760"/>
          </a:xfrm>
          <a:prstGeom prst="rect">
            <a:avLst/>
          </a:prstGeom>
          <a:noFill/>
        </p:spPr>
        <p:txBody>
          <a:bodyPr wrap="square" lIns="0" tIns="0" rIns="0" bIns="0" anchor="t">
            <a:normAutofit/>
          </a:bodyPr>
          <a:lstStyle/>
          <a:p>
            <a:pPr algn="l">
              <a:lnSpc>
                <a:spcPct val="100000"/>
              </a:lnSpc>
              <a:buNone/>
            </a:pPr>
            <a:r>
              <a:rPr lang="en-US" sz="1100" b="1">
                <a:solidFill>
                  <a:srgbClr val="312C2A"/>
                </a:solidFill>
                <a:latin typeface="Arial"/>
                <a:cs typeface="Arial"/>
              </a:rPr>
              <a:t>Inventory policy</a:t>
            </a:r>
          </a:p>
        </p:txBody>
      </p:sp>
      <p:sp>
        <p:nvSpPr>
          <p:cNvPr id="154" name="Text 154"/>
          <p:cNvSpPr txBox="1"/>
          <p:nvPr/>
        </p:nvSpPr>
        <p:spPr>
          <a:xfrm>
            <a:off x="5989320" y="4617720"/>
            <a:ext cx="3749040" cy="502920"/>
          </a:xfrm>
          <a:prstGeom prst="rect">
            <a:avLst/>
          </a:prstGeom>
          <a:noFill/>
        </p:spPr>
        <p:txBody>
          <a:bodyPr wrap="square" lIns="0" tIns="0" rIns="0" bIns="0" anchor="t">
            <a:normAutofit/>
          </a:bodyPr>
          <a:lstStyle/>
          <a:p>
            <a:pPr algn="l">
              <a:lnSpc>
                <a:spcPct val="125000"/>
              </a:lnSpc>
              <a:buNone/>
            </a:pPr>
            <a:r>
              <a:rPr lang="en-US" sz="950" b="0">
                <a:solidFill>
                  <a:srgbClr val="6E6259"/>
                </a:solidFill>
                <a:latin typeface="Arial"/>
                <a:cs typeface="Arial"/>
              </a:rPr>
              <a:t>Adjust reorder points and safety stock for high-usage, long-lead-time and repeat-delay components.</a:t>
            </a:r>
          </a:p>
        </p:txBody>
      </p:sp>
      <p:sp>
        <p:nvSpPr>
          <p:cNvPr id="155" name="Text 155"/>
          <p:cNvSpPr txBox="1"/>
          <p:nvPr/>
        </p:nvSpPr>
        <p:spPr>
          <a:xfrm>
            <a:off x="9966960" y="4709160"/>
            <a:ext cx="1325880" cy="365760"/>
          </a:xfrm>
          <a:prstGeom prst="rect">
            <a:avLst/>
          </a:prstGeom>
          <a:noFill/>
        </p:spPr>
        <p:txBody>
          <a:bodyPr wrap="square" lIns="0" tIns="0" rIns="0" bIns="0" anchor="t">
            <a:normAutofit/>
          </a:bodyPr>
          <a:lstStyle/>
          <a:p>
            <a:pPr algn="l">
              <a:lnSpc>
                <a:spcPct val="100000"/>
              </a:lnSpc>
              <a:buNone/>
            </a:pPr>
            <a:r>
              <a:rPr lang="en-US" sz="950" b="0">
                <a:solidFill>
                  <a:srgbClr val="312C2A"/>
                </a:solidFill>
                <a:latin typeface="Arial"/>
                <a:cs typeface="Arial"/>
              </a:rPr>
              <a:t>Demand Planning</a:t>
            </a:r>
          </a:p>
        </p:txBody>
      </p:sp>
      <p:sp>
        <p:nvSpPr>
          <p:cNvPr id="156" name="Rect 156"/>
          <p:cNvSpPr/>
          <p:nvPr/>
        </p:nvSpPr>
        <p:spPr>
          <a:xfrm>
            <a:off x="914400" y="5148072"/>
            <a:ext cx="10355580" cy="658368"/>
          </a:xfrm>
          <a:prstGeom prst="rect">
            <a:avLst/>
          </a:prstGeom>
          <a:solidFill>
            <a:srgbClr val="F1EFED"/>
          </a:solidFill>
          <a:ln>
            <a:noFill/>
          </a:ln>
        </p:spPr>
        <p:txBody>
          <a:bodyPr/>
          <a:lstStyle/>
          <a:p>
            <a:endParaRPr lang="en-US"/>
          </a:p>
        </p:txBody>
      </p:sp>
      <p:sp>
        <p:nvSpPr>
          <p:cNvPr id="157" name="Text 157"/>
          <p:cNvSpPr txBox="1"/>
          <p:nvPr/>
        </p:nvSpPr>
        <p:spPr>
          <a:xfrm>
            <a:off x="1143000" y="5276088"/>
            <a:ext cx="1508760" cy="457200"/>
          </a:xfrm>
          <a:prstGeom prst="rect">
            <a:avLst/>
          </a:prstGeom>
          <a:noFill/>
        </p:spPr>
        <p:txBody>
          <a:bodyPr wrap="square" lIns="0" tIns="0" rIns="0" bIns="0" anchor="t">
            <a:normAutofit/>
          </a:bodyPr>
          <a:lstStyle/>
          <a:p>
            <a:pPr algn="l">
              <a:lnSpc>
                <a:spcPct val="115000"/>
              </a:lnSpc>
              <a:buNone/>
            </a:pPr>
            <a:r>
              <a:rPr lang="en-US" sz="1050" b="1">
                <a:solidFill>
                  <a:srgbClr val="EB1700"/>
                </a:solidFill>
                <a:latin typeface="Arial"/>
                <a:cs typeface="Arial"/>
              </a:rPr>
              <a:t>Phase 5</a:t>
            </a:r>
          </a:p>
          <a:p>
            <a:pPr algn="l">
              <a:lnSpc>
                <a:spcPct val="115000"/>
              </a:lnSpc>
              <a:buNone/>
            </a:pPr>
            <a:r>
              <a:rPr lang="en-US" sz="900" b="0">
                <a:solidFill>
                  <a:srgbClr val="6E6259"/>
                </a:solidFill>
                <a:latin typeface="Arial"/>
                <a:cs typeface="Arial"/>
              </a:rPr>
              <a:t>Ongoing</a:t>
            </a:r>
          </a:p>
        </p:txBody>
      </p:sp>
      <p:sp>
        <p:nvSpPr>
          <p:cNvPr id="158" name="Text 158"/>
          <p:cNvSpPr txBox="1"/>
          <p:nvPr/>
        </p:nvSpPr>
        <p:spPr>
          <a:xfrm>
            <a:off x="2743200" y="5367528"/>
            <a:ext cx="3200400" cy="365760"/>
          </a:xfrm>
          <a:prstGeom prst="rect">
            <a:avLst/>
          </a:prstGeom>
          <a:noFill/>
        </p:spPr>
        <p:txBody>
          <a:bodyPr wrap="square" lIns="0" tIns="0" rIns="0" bIns="0" anchor="t">
            <a:normAutofit/>
          </a:bodyPr>
          <a:lstStyle/>
          <a:p>
            <a:pPr algn="l">
              <a:lnSpc>
                <a:spcPct val="100000"/>
              </a:lnSpc>
              <a:buNone/>
            </a:pPr>
            <a:r>
              <a:rPr lang="en-US" sz="1100" b="1">
                <a:solidFill>
                  <a:srgbClr val="312C2A"/>
                </a:solidFill>
                <a:latin typeface="Arial"/>
                <a:cs typeface="Arial"/>
              </a:rPr>
              <a:t>Expedite discipline</a:t>
            </a:r>
          </a:p>
        </p:txBody>
      </p:sp>
      <p:sp>
        <p:nvSpPr>
          <p:cNvPr id="159" name="Text 159"/>
          <p:cNvSpPr txBox="1"/>
          <p:nvPr/>
        </p:nvSpPr>
        <p:spPr>
          <a:xfrm>
            <a:off x="5989320" y="5276088"/>
            <a:ext cx="3749040" cy="502920"/>
          </a:xfrm>
          <a:prstGeom prst="rect">
            <a:avLst/>
          </a:prstGeom>
          <a:noFill/>
        </p:spPr>
        <p:txBody>
          <a:bodyPr wrap="square" lIns="0" tIns="0" rIns="0" bIns="0" anchor="t">
            <a:normAutofit/>
          </a:bodyPr>
          <a:lstStyle/>
          <a:p>
            <a:pPr algn="l">
              <a:lnSpc>
                <a:spcPct val="125000"/>
              </a:lnSpc>
              <a:buNone/>
            </a:pPr>
            <a:r>
              <a:rPr lang="en-US" sz="950" b="0">
                <a:solidFill>
                  <a:srgbClr val="6E6259"/>
                </a:solidFill>
                <a:latin typeface="Arial"/>
                <a:cs typeface="Arial"/>
              </a:rPr>
              <a:t>Limit expedited shipping to confirmed critical shortages; address structure via contract reviews and alternative sourcing.</a:t>
            </a:r>
          </a:p>
        </p:txBody>
      </p:sp>
      <p:sp>
        <p:nvSpPr>
          <p:cNvPr id="160" name="Text 160"/>
          <p:cNvSpPr txBox="1"/>
          <p:nvPr/>
        </p:nvSpPr>
        <p:spPr>
          <a:xfrm>
            <a:off x="9966960" y="5367528"/>
            <a:ext cx="1325880" cy="365760"/>
          </a:xfrm>
          <a:prstGeom prst="rect">
            <a:avLst/>
          </a:prstGeom>
          <a:noFill/>
        </p:spPr>
        <p:txBody>
          <a:bodyPr wrap="square" lIns="0" tIns="0" rIns="0" bIns="0" anchor="t">
            <a:normAutofit/>
          </a:bodyPr>
          <a:lstStyle/>
          <a:p>
            <a:pPr algn="l">
              <a:lnSpc>
                <a:spcPct val="100000"/>
              </a:lnSpc>
              <a:buNone/>
            </a:pPr>
            <a:r>
              <a:rPr lang="en-US" sz="950" b="0">
                <a:solidFill>
                  <a:srgbClr val="312C2A"/>
                </a:solidFill>
                <a:latin typeface="Arial"/>
                <a:cs typeface="Arial"/>
              </a:rPr>
              <a:t>Supply Chain Ops</a:t>
            </a:r>
          </a:p>
        </p:txBody>
      </p:sp>
      <p:sp>
        <p:nvSpPr>
          <p:cNvPr id="161" name="Text 161"/>
          <p:cNvSpPr txBox="1"/>
          <p:nvPr/>
        </p:nvSpPr>
        <p:spPr>
          <a:xfrm>
            <a:off x="914400" y="5925312"/>
            <a:ext cx="10355580" cy="256032"/>
          </a:xfrm>
          <a:prstGeom prst="rect">
            <a:avLst/>
          </a:prstGeom>
          <a:noFill/>
        </p:spPr>
        <p:txBody>
          <a:bodyPr wrap="square" lIns="0" tIns="0" rIns="0" bIns="0" anchor="t">
            <a:normAutofit/>
          </a:bodyPr>
          <a:lstStyle/>
          <a:p>
            <a:pPr algn="l">
              <a:lnSpc>
                <a:spcPct val="100000"/>
              </a:lnSpc>
              <a:buNone/>
            </a:pPr>
            <a:r>
              <a:rPr lang="en-US" sz="950" b="0">
                <a:solidFill>
                  <a:srgbClr val="6E6259"/>
                </a:solidFill>
                <a:latin typeface="Arial"/>
                <a:cs typeface="Arial"/>
              </a:rPr>
              <a:t>Progress reviewed at each phase gate; evidence retained for compliance documentation.</a:t>
            </a:r>
          </a:p>
        </p:txBody>
      </p:sp>
      <p:pic>
        <p:nvPicPr>
          <p:cNvPr id="162" name="Logo">
            <a:extLst>
              <a:ext uri="{FF2B5EF4-FFF2-40B4-BE49-F238E27FC236}">
                <a16:creationId xmlns:a16="http://schemas.microsoft.com/office/drawing/2014/main" id="{ABB973B4-AD50-4A13-837E-3C2757CD51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113" y="6448421"/>
            <a:ext cx="1580087" cy="146304"/>
          </a:xfrm>
          <a:prstGeom prst="rect">
            <a:avLst/>
          </a:prstGeom>
        </p:spPr>
      </p:pic>
      <p:sp>
        <p:nvSpPr>
          <p:cNvPr id="163" name="Text 163"/>
          <p:cNvSpPr txBox="1"/>
          <p:nvPr/>
        </p:nvSpPr>
        <p:spPr>
          <a:xfrm>
            <a:off x="6400800" y="6419088"/>
            <a:ext cx="4937760" cy="201168"/>
          </a:xfrm>
          <a:prstGeom prst="rect">
            <a:avLst/>
          </a:prstGeom>
          <a:noFill/>
        </p:spPr>
        <p:txBody>
          <a:bodyPr wrap="square" lIns="0" tIns="0" rIns="0" bIns="0" anchor="t">
            <a:normAutofit/>
          </a:bodyPr>
          <a:lstStyle/>
          <a:p>
            <a:pPr algn="r">
              <a:lnSpc>
                <a:spcPct val="100000"/>
              </a:lnSpc>
              <a:buNone/>
            </a:pPr>
            <a:r>
              <a:rPr lang="en-US" sz="800" b="0">
                <a:solidFill>
                  <a:srgbClr val="6E6259"/>
                </a:solidFill>
                <a:latin typeface="Arial"/>
                <a:cs typeface="Arial"/>
              </a:rPr>
              <a:t>Supply Chain Issue Compliance Report  |  Implementation Plan</a:t>
            </a:r>
          </a:p>
        </p:txBody>
      </p:sp>
    </p:spTree>
  </p:cSld>
  <p:clrMapOvr>
    <a:masterClrMapping/>
  </p:clrMapOvr>
</p:sld>
</file>

<file path=ppt/theme/theme1.xml><?xml version="1.0" encoding="utf-8"?>
<a:theme xmlns:a="http://schemas.openxmlformats.org/drawingml/2006/main" name="J&amp;J Core Program: Fact Sheet–Horizontal">
  <a:themeElements>
    <a:clrScheme name="JNJ">
      <a:dk1>
        <a:srgbClr val="000000"/>
      </a:dk1>
      <a:lt1>
        <a:srgbClr val="FFFFFF"/>
      </a:lt1>
      <a:dk2>
        <a:srgbClr val="F1EFED"/>
      </a:dk2>
      <a:lt2>
        <a:srgbClr val="6E6159"/>
      </a:lt2>
      <a:accent1>
        <a:srgbClr val="EB1700"/>
      </a:accent1>
      <a:accent2>
        <a:srgbClr val="D5CFC9"/>
      </a:accent2>
      <a:accent3>
        <a:srgbClr val="000000"/>
      </a:accent3>
      <a:accent4>
        <a:srgbClr val="A39992"/>
      </a:accent4>
      <a:accent5>
        <a:srgbClr val="69D0FF"/>
      </a:accent5>
      <a:accent6>
        <a:srgbClr val="004585"/>
      </a:accent6>
      <a:hlink>
        <a:srgbClr val="000000"/>
      </a:hlink>
      <a:folHlink>
        <a:srgbClr val="000000"/>
      </a:folHlink>
    </a:clrScheme>
    <a:fontScheme name="J&amp;J">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latin typeface="Aria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85750" indent="-285750" algn="l">
          <a:buFont typeface="Arial" panose="020B0604020202020204" pitchFamily="34" charset="0"/>
          <a:buChar char="•"/>
          <a:defRPr sz="1800" kern="1200" dirty="0" err="1" smtClean="0">
            <a:solidFill>
              <a:schemeClr val="tx1"/>
            </a:solidFill>
            <a:latin typeface="Arial"/>
            <a:ea typeface="Arial"/>
            <a:cs typeface="Arial"/>
          </a:defRPr>
        </a:defPPr>
      </a:lstStyle>
    </a:txDef>
  </a:objectDefaults>
  <a:extraClrSchemeLst/>
  <a:extLst>
    <a:ext uri="{05A4C25C-085E-4340-85A3-A5531E510DB2}">
      <thm15:themeFamily xmlns:thm15="http://schemas.microsoft.com/office/thememl/2012/main" name="Presentation5" id="{DF622F8E-F96A-BB43-B5B8-BF820ACA8EE9}" vid="{ADF39C44-A396-7448-9473-5CB965AD35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ca48ea3-8c75-4d36-b64f-70604b11fd22}" enabled="1" method="Standard" siteId="{3ac94b33-9135-4821-9502-eafda6592a35}" contentBits="0" removed="0"/>
</clbl:labelList>
</file>

<file path=docProps/app.xml><?xml version="1.0" encoding="utf-8"?>
<Properties xmlns="http://schemas.openxmlformats.org/officeDocument/2006/extended-properties" xmlns:vt="http://schemas.openxmlformats.org/officeDocument/2006/docPropsVTypes">
  <TotalTime>28</TotalTime>
  <Words>1226</Words>
  <Application>Microsoft Office PowerPoint</Application>
  <PresentationFormat>Custom</PresentationFormat>
  <Paragraphs>117</Paragraphs>
  <Slides>5</Slides>
  <Notes>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vt:i4>
      </vt:variant>
    </vt:vector>
  </HeadingPairs>
  <TitlesOfParts>
    <vt:vector size="7" baseType="lpstr">
      <vt:lpstr>Arial</vt:lpstr>
      <vt:lpstr>J&amp;J Core Program: Fact Sheet–Horizontal</vt:lpstr>
      <vt:lpstr>PowerPoint Presentation</vt:lpstr>
      <vt:lpstr>PowerPoint Presentation</vt:lpstr>
      <vt:lpstr>PowerPoint Presentation</vt:lpstr>
      <vt:lpstr>PowerPoint Presentation</vt:lpstr>
      <vt:lpstr>PowerPoint Presentation</vt:lpstr>
    </vt:vector>
  </TitlesOfParts>
  <Company>JNJ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Franco, Alexandre [MEDBR]</dc:creator>
  <cp:lastModifiedBy>Franco, Alexandre [MEDBR]</cp:lastModifiedBy>
  <cp:revision>2</cp:revision>
  <dcterms:created xsi:type="dcterms:W3CDTF">2026-08-18T21:36:54Z</dcterms:created>
  <dcterms:modified xsi:type="dcterms:W3CDTF">2026-08-18T22:05:15Z</dcterms:modified>
</cp:coreProperties>
</file>